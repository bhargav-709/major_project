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committee members, examiners, and faculty. Today I present our major project: Resource Allocation and Scheduling Optimization for Enterprise Analytics. This research investigates multi-resource scheduling across 10 distinct algorithms spanning classical heuristics, stochastic metaheuristics, and reinforcement learning within a discrete-event simulation framework.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enterprise environments, modern workloads are heterogeneous and multi-dimensional. A job cannot run if it secures 8 CPU cores but lacks 16 GB of RAM or 1 GPU accelerator. This causes resource stranding. Furthermore, testing scheduling algorithms directly on live production clusters is volatile and expensive. Discrete-event simulation allows us to benchmark algorithms fairly under identical conditions.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Mathematically, multi-resource job scheduling is NP-hard. We have three hard constraints: capacity limits across CPU, memory, and GPU; causal precedence where jobs cannot execute before arrival; and non-preemption. Our objectives inherently conflict: maximizing packing density can delay urgent tasks, while strictly prioritizing deadlines can fragment resource allocations.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was to build a complete, verifiable research and benchmarking platform. We specifically implemented 10 algorithms, standardized the simulation environment on a 40-core, 256GB RAM, 8-GPU cluster, and built an interactive dashboard. We are clear about our boundaries: this is a discrete-event simulation engine, scheduling is non-preemptive, and rejected jobs are reported cleanly without corrupting runtime metrics.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use just one algorithm? Real-world heuristics have severe blind spots: FCFS suffers from convoy delays, SJF delays long batch jobs under heavy queues, and Greedy Best-Fit creates fragmented residual capacity. Metaheuristics optimize globally across permutations. RL agents offer adaptive formulation, but under our compact training budget of 25 to 30 episodes, they do not establish convergence or outperform metaheuristics.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full lifecycle: Workloads enter either from the Google cluster dataset or synthetic generator. They pass through our 8-step preprocessing pipeline and capacity filter. Valid jobs enter the discrete-event simulator where one of 10 algorithms controls dispatching. The PerformanceEvaluator computes standard metrics, results are persisted to SQLite, and the React frontend renders interactive Gantt timelines.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strictly decouples presentation from core logic. The frontend is built with React 18, Vite, and Tailwind CSS. The backend utilizes FastAPI with Pydantic type safety and SQLite persistence. Crucially, the SchedulingDecisionEngine acts as a facade, ensuring every algorithm interfaces with the exact same DiscreteEventSimulator and PerformanceEvaluator.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implemented exactly 10 algorithms across three broad families: Five deterministic heuristics for baseline efficiency; three metaheuristics that optimize global permutation schedules using evolutionary, swarm, and thermal physics models; and two reinforcement learning agents that learn dispatch policies through environmental rewards and neural network approximation.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10 algorithms are evaluated through the exact same formulas. Makespan measures completion time. Waiting time measures queue latency. Resource utilization measures multi-dimensional hardware occupancy. SLA rate tracks deadline breaches, while our cost model combines compute usage charges with a $25 breach penalty. Finally, our Composite Efficiency Score normalizes everything into a 0 to 100 scale.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Scientific fairness was paramount in our benchmarking. Every algorithm received an identical deep copy of the 25-job workload trace generated with master seed 42. For deterministic algorithms like FCFS and SJF, we report single runs. For stochastic optimizers and RL agents, we report the Mean and Standard Deviation across 5 independent random seeds. All data matches our standardized JSON artifact.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MEDIUM contention, measured benchmark results show PSO achieved the highest overall score of 72.06, followed closely by GA at 71.54. SJF performed well under this moderate load, achieving 71.10 by rapidly dispatching short jobs. FCFS and Greedy achieved moderate scores around 64.4, while DQN and Q-Learning scored ~58 under their compact training budget and summary state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HEAVY contention, measured results show PSO and GA achieved the highest efficiency scores around 44. Crucially, notice SJF: while it ranked 3rd in Medium contention, it dropped to 6th in Heavy contention because repeatedly prioritizing short tasks delayed longer tasks past their deadlines, causing a measured 72.0% SLA breach rate. Under limited 25-30 episode training budgets, RL agents scored 20 to 23.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implementation is rigorously verified. We run 40 automated backend tests covering edge cases, algorithmic correctness, and discrepancy detection with 100% pass rates. The frontend builds cleanly via Vite. Furthermore, our engine includes upfront admissibility checks: permanently infeasible jobs are caught immediately, assigned terminal REJECTED status, and prevented from deadlocking simulation queues.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provides a comprehensive, verified platform for multi-resource scheduling optimization. We demonstrated that global metaheuristics like PSO and GA consistently deliver superior efficiency under heavy contention, while classical heuristics like SJF excel only under moderate loads. We have also documented the real-world sample efficiency challenges of reinforcement learning.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4114800"/>
          </a:xfrm>
          <a:prstGeom prst="rect">
            <a:avLst/>
          </a:prstGeom>
          <a:noFill/>
        </p:spPr>
        <p:txBody>
          <a:bodyPr wrap="square">
            <a:spAutoFit/>
          </a:bodyPr>
          <a:lstStyle/>
          <a:p>
            <a:pPr>
              <a:spcAft>
                <a:spcPts val="1200"/>
              </a:spcAft>
              <a:defRPr sz="1300" b="1">
                <a:solidFill>
                  <a:srgbClr val="2563EB"/>
                </a:solidFill>
              </a:defRPr>
            </a:pPr>
            <a:r>
              <a:t>MAJOR PROJECT DEFENSE &amp; PRESENTATION</a:t>
            </a:r>
          </a:p>
          <a:p>
            <a:pPr>
              <a:spcAft>
                <a:spcPts val="800"/>
              </a:spcAft>
              <a:defRPr sz="2800" b="1">
                <a:solidFill>
                  <a:srgbClr val="FFFFFF"/>
                </a:solidFill>
              </a:defRPr>
            </a:pPr>
            <a:r>
              <a:t>Resource Allocation and Scheduling Optimization for Enterprise Analytics</a:t>
            </a:r>
          </a:p>
          <a:p>
            <a:pPr>
              <a:spcAft>
                <a:spcPts val="3600"/>
              </a:spcAft>
              <a:defRPr sz="1800">
                <a:solidFill>
                  <a:srgbClr val="94A3B8"/>
                </a:solidFill>
              </a:defRPr>
            </a:pPr>
            <a:r>
              <a:t>A Comparative Study of Heuristic, Metaheuristic, and Reinforcement Learning Methods</a:t>
            </a:r>
          </a:p>
          <a:p>
            <a:pPr>
              <a:defRPr sz="1300">
                <a:solidFill>
                  <a:srgbClr val="CBD5E1"/>
                </a:solidFill>
              </a:defRPr>
            </a:pPr>
            <a:r>
              <a:t>Project Team: [Student Name(s) / Roll No.]</a:t>
            </a:r>
            <a:br/>
            <a:r>
              <a:t>Department of Computer Science &amp; Engineering</a:t>
            </a:r>
            <a:br/>
            <a:r>
              <a:t>[Institution / University Name]  |  Academic Year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Introduction: Scheduling Challenges in Enterprise Analytics</a:t>
            </a:r>
          </a:p>
        </p:txBody>
      </p:sp>
      <p:sp>
        <p:nvSpPr>
          <p:cNvPr id="3" name="Rounded Rectangle 2"/>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Modern Cloud Analytics Reality   [Context]</a:t>
            </a:r>
          </a:p>
          <a:p>
            <a:pPr>
              <a:spcAft>
                <a:spcPts val="600"/>
              </a:spcAft>
              <a:defRPr sz="1100">
                <a:solidFill>
                  <a:srgbClr val="1E293B"/>
                </a:solidFill>
              </a:defRPr>
            </a:pPr>
            <a:r>
              <a:t>•  Analytics clusters (Kubernetes, YARN, Slurm) process heterogeneous, multi-tenant workloads.</a:t>
            </a:r>
          </a:p>
          <a:p>
            <a:pPr>
              <a:spcAft>
                <a:spcPts val="600"/>
              </a:spcAft>
              <a:defRPr sz="1100">
                <a:solidFill>
                  <a:srgbClr val="1E293B"/>
                </a:solidFill>
              </a:defRPr>
            </a:pPr>
            <a:r>
              <a:t>•  Workloads combine batch ETL, deep learning training, and streaming data analytics.</a:t>
            </a:r>
          </a:p>
          <a:p>
            <a:pPr>
              <a:spcAft>
                <a:spcPts val="600"/>
              </a:spcAft>
              <a:defRPr sz="1100">
                <a:solidFill>
                  <a:srgbClr val="1E293B"/>
                </a:solidFill>
              </a:defRPr>
            </a:pPr>
            <a:r>
              <a:t>•  Jobs request multi-dimensional resource vectors simultaneously: CPU cores, RAM, and GPU accelerators.</a:t>
            </a:r>
          </a:p>
          <a:p>
            <a:pPr>
              <a:spcAft>
                <a:spcPts val="600"/>
              </a:spcAft>
              <a:defRPr sz="1100">
                <a:solidFill>
                  <a:srgbClr val="1E293B"/>
                </a:solidFill>
              </a:defRPr>
            </a:pPr>
            <a:r>
              <a:t>•  High infrastructure costs: Cloud compute OpEx requires strict resource utilization efficiency.</a:t>
            </a:r>
          </a:p>
        </p:txBody>
      </p:sp>
      <p:sp>
        <p:nvSpPr>
          <p:cNvPr id="4" name="Rounded Rectangle 3"/>
          <p:cNvSpPr/>
          <p:nvPr/>
        </p:nvSpPr>
        <p:spPr>
          <a:xfrm>
            <a:off x="62179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The Core Operational Challenges   [Motivation]</a:t>
            </a:r>
          </a:p>
          <a:p>
            <a:pPr>
              <a:spcAft>
                <a:spcPts val="600"/>
              </a:spcAft>
              <a:defRPr sz="1100">
                <a:solidFill>
                  <a:srgbClr val="1E293B"/>
                </a:solidFill>
              </a:defRPr>
            </a:pPr>
            <a:r>
              <a:t>•  Multi-Resource Stranding: GPU units sit idle when host CPU or RAM is exhausted.</a:t>
            </a:r>
          </a:p>
          <a:p>
            <a:pPr>
              <a:spcAft>
                <a:spcPts val="600"/>
              </a:spcAft>
              <a:defRPr sz="1100">
                <a:solidFill>
                  <a:srgbClr val="1E293B"/>
                </a:solidFill>
              </a:defRPr>
            </a:pPr>
            <a:r>
              <a:t>•  SLA Violation Risk: Missing negotiated completion deadlines incurs severe monetary penalties.</a:t>
            </a:r>
          </a:p>
          <a:p>
            <a:pPr>
              <a:spcAft>
                <a:spcPts val="600"/>
              </a:spcAft>
              <a:defRPr sz="1100">
                <a:solidFill>
                  <a:srgbClr val="1E293B"/>
                </a:solidFill>
              </a:defRPr>
            </a:pPr>
            <a:r>
              <a:t>•  Unpredictable Queue Dynamics: High contention and bursty arrivals cause massive waiting delays.</a:t>
            </a:r>
          </a:p>
          <a:p>
            <a:pPr>
              <a:spcAft>
                <a:spcPts val="600"/>
              </a:spcAft>
              <a:defRPr sz="1100">
                <a:solidFill>
                  <a:srgbClr val="1E293B"/>
                </a:solidFill>
              </a:defRPr>
            </a:pPr>
            <a:r>
              <a:t>•  Need for Simulation: Evaluating algorithms directly on physical clusters is expensive, noisy, and non-reproducible.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Problem Statement: Multi-Objective NP-Hard Allocation</a:t>
            </a:r>
          </a:p>
        </p:txBody>
      </p:sp>
      <p:sp>
        <p:nvSpPr>
          <p:cNvPr id="3" name="Rounded Rectangle 2"/>
          <p:cNvSpPr/>
          <p:nvPr/>
        </p:nvSpPr>
        <p:spPr>
          <a:xfrm>
            <a:off x="7315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System Formulation   [Model]</a:t>
            </a:r>
          </a:p>
          <a:p>
            <a:pPr>
              <a:spcAft>
                <a:spcPts val="600"/>
              </a:spcAft>
              <a:defRPr sz="1100">
                <a:solidFill>
                  <a:srgbClr val="1E293B"/>
                </a:solidFill>
              </a:defRPr>
            </a:pPr>
            <a:r>
              <a:t>•  Aggregated cluster resources: Total CPU (C_cpu), Memory (C_mem), and GPU (C_gpu).</a:t>
            </a:r>
          </a:p>
          <a:p>
            <a:pPr>
              <a:spcAft>
                <a:spcPts val="600"/>
              </a:spcAft>
              <a:defRPr sz="1100">
                <a:solidFill>
                  <a:srgbClr val="1E293B"/>
                </a:solidFill>
              </a:defRPr>
            </a:pPr>
            <a:r>
              <a:t>•  Set of N jobs J = {j1, j2, ... jN}.</a:t>
            </a:r>
          </a:p>
          <a:p>
            <a:pPr>
              <a:spcAft>
                <a:spcPts val="600"/>
              </a:spcAft>
              <a:defRPr sz="1100">
                <a:solidFill>
                  <a:srgbClr val="1E293B"/>
                </a:solidFill>
              </a:defRPr>
            </a:pPr>
            <a:r>
              <a:t>•  Each job specifies: arrival, runtime, CPU cores, RAM MB, GPU units, priority, deadline, budget.</a:t>
            </a:r>
          </a:p>
          <a:p>
            <a:pPr>
              <a:spcAft>
                <a:spcPts val="600"/>
              </a:spcAft>
              <a:defRPr sz="1100">
                <a:solidFill>
                  <a:srgbClr val="1E293B"/>
                </a:solidFill>
              </a:defRPr>
            </a:pPr>
            <a:r>
              <a:t>•  Non-preemptive execution: once started, a job runs uninterrupted until completion.</a:t>
            </a:r>
          </a:p>
        </p:txBody>
      </p:sp>
      <p:sp>
        <p:nvSpPr>
          <p:cNvPr id="4" name="Rounded Rectangle 3"/>
          <p:cNvSpPr/>
          <p:nvPr/>
        </p:nvSpPr>
        <p:spPr>
          <a:xfrm>
            <a:off x="43891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Physical Constraints   [Constraints]</a:t>
            </a:r>
          </a:p>
          <a:p>
            <a:pPr>
              <a:spcAft>
                <a:spcPts val="600"/>
              </a:spcAft>
              <a:defRPr sz="1100">
                <a:solidFill>
                  <a:srgbClr val="1E293B"/>
                </a:solidFill>
              </a:defRPr>
            </a:pPr>
            <a:r>
              <a:t>•  Strict Capacity Limits: Concurrent consumption of running jobs must never exceed cluster capacity at any time t.</a:t>
            </a:r>
          </a:p>
          <a:p>
            <a:pPr>
              <a:spcAft>
                <a:spcPts val="600"/>
              </a:spcAft>
              <a:defRPr sz="1100">
                <a:solidFill>
                  <a:srgbClr val="1E293B"/>
                </a:solidFill>
              </a:defRPr>
            </a:pPr>
            <a:r>
              <a:t>•  Causal Precedence: No job may start before its arrival timestamp (t_start &gt;= t_arrival).</a:t>
            </a:r>
          </a:p>
          <a:p>
            <a:pPr>
              <a:spcAft>
                <a:spcPts val="600"/>
              </a:spcAft>
              <a:defRPr sz="1100">
                <a:solidFill>
                  <a:srgbClr val="1E293B"/>
                </a:solidFill>
              </a:defRPr>
            </a:pPr>
            <a:r>
              <a:t>•  Permanent Infeasibility: Jobs exceeding total cluster capacity must be rejected upfront without deadlocking queues.</a:t>
            </a:r>
          </a:p>
        </p:txBody>
      </p:sp>
      <p:sp>
        <p:nvSpPr>
          <p:cNvPr id="5" name="Rounded Rectangle 4"/>
          <p:cNvSpPr/>
          <p:nvPr/>
        </p:nvSpPr>
        <p:spPr>
          <a:xfrm>
            <a:off x="80467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Conflicting Objectives   [Trade-offs]</a:t>
            </a:r>
          </a:p>
          <a:p>
            <a:pPr>
              <a:spcAft>
                <a:spcPts val="600"/>
              </a:spcAft>
              <a:defRPr sz="1100">
                <a:solidFill>
                  <a:srgbClr val="1E293B"/>
                </a:solidFill>
              </a:defRPr>
            </a:pPr>
            <a:r>
              <a:t>•  Minimizing Makespan: Clear full workload as rapidly as possible.</a:t>
            </a:r>
          </a:p>
          <a:p>
            <a:pPr>
              <a:spcAft>
                <a:spcPts val="600"/>
              </a:spcAft>
              <a:defRPr sz="1100">
                <a:solidFill>
                  <a:srgbClr val="1E293B"/>
                </a:solidFill>
              </a:defRPr>
            </a:pPr>
            <a:r>
              <a:t>•  Minimizing Waiting Time: Reduce tenant queue latency.</a:t>
            </a:r>
          </a:p>
          <a:p>
            <a:pPr>
              <a:spcAft>
                <a:spcPts val="600"/>
              </a:spcAft>
              <a:defRPr sz="1100">
                <a:solidFill>
                  <a:srgbClr val="1E293B"/>
                </a:solidFill>
              </a:defRPr>
            </a:pPr>
            <a:r>
              <a:t>•  Maximizing Utilization: High continuous duty cycle on CPU/RAM/GPU.</a:t>
            </a:r>
          </a:p>
          <a:p>
            <a:pPr>
              <a:spcAft>
                <a:spcPts val="600"/>
              </a:spcAft>
              <a:defRPr sz="1100">
                <a:solidFill>
                  <a:srgbClr val="1E293B"/>
                </a:solidFill>
              </a:defRPr>
            </a:pPr>
            <a:r>
              <a:t>•  Minimizing SLA Breaches &amp; Cost: Avoid SLA penalty fees ($25/breach).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Project Aim, Objectives, and Technical Scope</a:t>
            </a:r>
          </a:p>
        </p:txBody>
      </p:sp>
      <p:sp>
        <p:nvSpPr>
          <p:cNvPr id="3" name="Rounded Rectangle 2"/>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Measurable Project Objectives   [Deliverables]</a:t>
            </a:r>
          </a:p>
          <a:p>
            <a:pPr>
              <a:spcAft>
                <a:spcPts val="600"/>
              </a:spcAft>
              <a:defRPr sz="1100">
                <a:solidFill>
                  <a:srgbClr val="1E293B"/>
                </a:solidFill>
              </a:defRPr>
            </a:pPr>
            <a:r>
              <a:t>•  Build Discrete-Event Simulator: Implement continuous-time simulator with min-heap priority event queue.</a:t>
            </a:r>
          </a:p>
          <a:p>
            <a:pPr>
              <a:spcAft>
                <a:spcPts val="600"/>
              </a:spcAft>
              <a:defRPr sz="1100">
                <a:solidFill>
                  <a:srgbClr val="1E293B"/>
                </a:solidFill>
              </a:defRPr>
            </a:pPr>
            <a:r>
              <a:t>•  Implement 10 Algorithms: Cover classical heuristics, global metaheuristics, and reinforcement learning.</a:t>
            </a:r>
          </a:p>
          <a:p>
            <a:pPr>
              <a:spcAft>
                <a:spcPts val="600"/>
              </a:spcAft>
              <a:defRPr sz="1100">
                <a:solidFill>
                  <a:srgbClr val="1E293B"/>
                </a:solidFill>
              </a:defRPr>
            </a:pPr>
            <a:r>
              <a:t>•  Data Preprocessing &amp; Workload Generation: Support Google cluster traces (10K tasks) and synthetic scenarios.</a:t>
            </a:r>
          </a:p>
          <a:p>
            <a:pPr>
              <a:spcAft>
                <a:spcPts val="600"/>
              </a:spcAft>
              <a:defRPr sz="1100">
                <a:solidFill>
                  <a:srgbClr val="1E293B"/>
                </a:solidFill>
              </a:defRPr>
            </a:pPr>
            <a:r>
              <a:t>•  Standardized Benchmarking: Establish fair evaluation with master seeds and 5-seed stochastic testing.</a:t>
            </a:r>
          </a:p>
          <a:p>
            <a:pPr>
              <a:spcAft>
                <a:spcPts val="600"/>
              </a:spcAft>
              <a:defRPr sz="1100">
                <a:solidFill>
                  <a:srgbClr val="1E293B"/>
                </a:solidFill>
              </a:defRPr>
            </a:pPr>
            <a:r>
              <a:t>•  Interactive Dashboard: Deliver React/Vite UI with Gantt charts, sequential order flow, and CSV export.</a:t>
            </a:r>
          </a:p>
        </p:txBody>
      </p:sp>
      <p:sp>
        <p:nvSpPr>
          <p:cNvPr id="4" name="Rounded Rectangle 3"/>
          <p:cNvSpPr/>
          <p:nvPr/>
        </p:nvSpPr>
        <p:spPr>
          <a:xfrm>
            <a:off x="62179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Project Scope &amp; Verified Boundaries   [Boundaries]</a:t>
            </a:r>
          </a:p>
          <a:p>
            <a:pPr>
              <a:spcAft>
                <a:spcPts val="600"/>
              </a:spcAft>
              <a:defRPr sz="1100">
                <a:solidFill>
                  <a:srgbClr val="1E293B"/>
                </a:solidFill>
              </a:defRPr>
            </a:pPr>
            <a:r>
              <a:t>•  Simulation Context: All benchmarks run within the discrete-event simulation engine, not a live physical cluster.</a:t>
            </a:r>
          </a:p>
          <a:p>
            <a:pPr>
              <a:spcAft>
                <a:spcPts val="600"/>
              </a:spcAft>
              <a:defRPr sz="1100">
                <a:solidFill>
                  <a:srgbClr val="1E293B"/>
                </a:solidFill>
              </a:defRPr>
            </a:pPr>
            <a:r>
              <a:t>•  Hardware Model: Standardized cluster of 40 CPU cores, 256 GB RAM, and 8 GPUs.</a:t>
            </a:r>
          </a:p>
          <a:p>
            <a:pPr>
              <a:spcAft>
                <a:spcPts val="600"/>
              </a:spcAft>
              <a:defRPr sz="1100">
                <a:solidFill>
                  <a:srgbClr val="1E293B"/>
                </a:solidFill>
              </a:defRPr>
            </a:pPr>
            <a:r>
              <a:t>•  Non-Preemptive Execution: Tasks run continuously until finish; no checkpoint/migration modeling.</a:t>
            </a:r>
          </a:p>
          <a:p>
            <a:pPr>
              <a:spcAft>
                <a:spcPts val="600"/>
              </a:spcAft>
              <a:defRPr sz="1100">
                <a:solidFill>
                  <a:srgbClr val="1E293B"/>
                </a:solidFill>
              </a:defRPr>
            </a:pPr>
            <a:r>
              <a:t>•  Synchronous REST Architecture: Fast browser feedback (&lt;10s) with compact RL training budgets (25–60 episodes).</a:t>
            </a:r>
          </a:p>
          <a:p>
            <a:pPr>
              <a:spcAft>
                <a:spcPts val="600"/>
              </a:spcAft>
              <a:defRPr sz="1100">
                <a:solidFill>
                  <a:srgbClr val="1E293B"/>
                </a:solidFill>
              </a:defRPr>
            </a:pPr>
            <a:r>
              <a:t>•  Upfront Rejection: Permanently infeasible jobs marked terminal REJECTED; metrics evaluate executed jobs.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Existing Approaches &amp; Limitations of Single Policies</a:t>
            </a:r>
          </a:p>
        </p:txBody>
      </p:sp>
      <p:sp>
        <p:nvSpPr>
          <p:cNvPr id="3" name="Rounded Rectangle 2"/>
          <p:cNvSpPr/>
          <p:nvPr/>
        </p:nvSpPr>
        <p:spPr>
          <a:xfrm>
            <a:off x="7315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Classical Heuristics   [Heuristics]</a:t>
            </a:r>
          </a:p>
          <a:p>
            <a:pPr>
              <a:spcAft>
                <a:spcPts val="600"/>
              </a:spcAft>
              <a:defRPr sz="1100">
                <a:solidFill>
                  <a:srgbClr val="1E293B"/>
                </a:solidFill>
              </a:defRPr>
            </a:pPr>
            <a:r>
              <a:t>•  FCFS: Zero overhead but suffers from convoy effect; long tasks block short jobs.</a:t>
            </a:r>
          </a:p>
          <a:p>
            <a:pPr>
              <a:spcAft>
                <a:spcPts val="600"/>
              </a:spcAft>
              <a:defRPr sz="1100">
                <a:solidFill>
                  <a:srgbClr val="1E293B"/>
                </a:solidFill>
              </a:defRPr>
            </a:pPr>
            <a:r>
              <a:t>•  SJF: Minimizes wait time in simple queues, but starves long tasks and ignores deadlines.</a:t>
            </a:r>
          </a:p>
          <a:p>
            <a:pPr>
              <a:spcAft>
                <a:spcPts val="600"/>
              </a:spcAft>
              <a:defRPr sz="1100">
                <a:solidFill>
                  <a:srgbClr val="1E293B"/>
                </a:solidFill>
              </a:defRPr>
            </a:pPr>
            <a:r>
              <a:t>•  Priority: Protects high-tier tasks but causes starvation for lower-priority jobs.</a:t>
            </a:r>
          </a:p>
          <a:p>
            <a:pPr>
              <a:spcAft>
                <a:spcPts val="600"/>
              </a:spcAft>
              <a:defRPr sz="1100">
                <a:solidFill>
                  <a:srgbClr val="1E293B"/>
                </a:solidFill>
              </a:defRPr>
            </a:pPr>
            <a:r>
              <a:t>•  EDF: Effective in uniprocessor real-time systems, but causes domino SLA breaches under multi-resource overload.</a:t>
            </a:r>
          </a:p>
          <a:p>
            <a:pPr>
              <a:spcAft>
                <a:spcPts val="600"/>
              </a:spcAft>
              <a:defRPr sz="1100">
                <a:solidFill>
                  <a:srgbClr val="1E293B"/>
                </a:solidFill>
              </a:defRPr>
            </a:pPr>
            <a:r>
              <a:t>•  Greedy Best-Fit: High instant packing, but blind to future arrivals.</a:t>
            </a:r>
          </a:p>
        </p:txBody>
      </p:sp>
      <p:sp>
        <p:nvSpPr>
          <p:cNvPr id="4" name="Rounded Rectangle 3"/>
          <p:cNvSpPr/>
          <p:nvPr/>
        </p:nvSpPr>
        <p:spPr>
          <a:xfrm>
            <a:off x="43891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Metaheuristic Search   [Metaheuristics]</a:t>
            </a:r>
          </a:p>
          <a:p>
            <a:pPr>
              <a:spcAft>
                <a:spcPts val="600"/>
              </a:spcAft>
              <a:defRPr sz="1100">
                <a:solidFill>
                  <a:srgbClr val="1E293B"/>
                </a:solidFill>
              </a:defRPr>
            </a:pPr>
            <a:r>
              <a:t>•  Explores global combinatorial sequence permutations.</a:t>
            </a:r>
          </a:p>
          <a:p>
            <a:pPr>
              <a:spcAft>
                <a:spcPts val="600"/>
              </a:spcAft>
              <a:defRPr sz="1100">
                <a:solidFill>
                  <a:srgbClr val="1E293B"/>
                </a:solidFill>
              </a:defRPr>
            </a:pPr>
            <a:r>
              <a:t>•  GA: Employs crossover and mutation on permutation chromosomes.</a:t>
            </a:r>
          </a:p>
          <a:p>
            <a:pPr>
              <a:spcAft>
                <a:spcPts val="600"/>
              </a:spcAft>
              <a:defRPr sz="1100">
                <a:solidFill>
                  <a:srgbClr val="1E293B"/>
                </a:solidFill>
              </a:defRPr>
            </a:pPr>
            <a:r>
              <a:t>•  PSO: Maps continuous particle velocities to discrete job rankings.</a:t>
            </a:r>
          </a:p>
          <a:p>
            <a:pPr>
              <a:spcAft>
                <a:spcPts val="600"/>
              </a:spcAft>
              <a:defRPr sz="1100">
                <a:solidFill>
                  <a:srgbClr val="1E293B"/>
                </a:solidFill>
              </a:defRPr>
            </a:pPr>
            <a:r>
              <a:t>•  SA: Escapes local minima via Boltzmann probabilistic uphill acceptance.</a:t>
            </a:r>
          </a:p>
          <a:p>
            <a:pPr>
              <a:spcAft>
                <a:spcPts val="600"/>
              </a:spcAft>
              <a:defRPr sz="1100">
                <a:solidFill>
                  <a:srgbClr val="1E293B"/>
                </a:solidFill>
              </a:defRPr>
            </a:pPr>
            <a:r>
              <a:t>•  Limitation: Higher computational complexity than simple one-pass heuristics.</a:t>
            </a:r>
          </a:p>
        </p:txBody>
      </p:sp>
      <p:sp>
        <p:nvSpPr>
          <p:cNvPr id="5" name="Rounded Rectangle 4"/>
          <p:cNvSpPr/>
          <p:nvPr/>
        </p:nvSpPr>
        <p:spPr>
          <a:xfrm>
            <a:off x="80467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Reinforcement Learning   [RL Methods]</a:t>
            </a:r>
          </a:p>
          <a:p>
            <a:pPr>
              <a:spcAft>
                <a:spcPts val="600"/>
              </a:spcAft>
              <a:defRPr sz="1100">
                <a:solidFill>
                  <a:srgbClr val="1E293B"/>
                </a:solidFill>
              </a:defRPr>
            </a:pPr>
            <a:r>
              <a:t>•  Learns dispatch policies dynamically through environment interaction.</a:t>
            </a:r>
          </a:p>
          <a:p>
            <a:pPr>
              <a:spcAft>
                <a:spcPts val="600"/>
              </a:spcAft>
              <a:defRPr sz="1100">
                <a:solidFill>
                  <a:srgbClr val="1E293B"/>
                </a:solidFill>
              </a:defRPr>
            </a:pPr>
            <a:r>
              <a:t>•  Tabular Q-Learning: Temporal difference updates over state buckets.</a:t>
            </a:r>
          </a:p>
          <a:p>
            <a:pPr>
              <a:spcAft>
                <a:spcPts val="600"/>
              </a:spcAft>
              <a:defRPr sz="1100">
                <a:solidFill>
                  <a:srgbClr val="1E293B"/>
                </a:solidFill>
              </a:defRPr>
            </a:pPr>
            <a:r>
              <a:t>•  DQN: PyTorch neural network with experience replay buffer.</a:t>
            </a:r>
          </a:p>
          <a:p>
            <a:pPr>
              <a:spcAft>
                <a:spcPts val="600"/>
              </a:spcAft>
              <a:defRPr sz="1100">
                <a:solidFill>
                  <a:srgbClr val="1E293B"/>
                </a:solidFill>
              </a:defRPr>
            </a:pPr>
            <a:r>
              <a:t>•  Project Scope: Uses a compact training budget (25–30 episodes); does not establish asymptotic convergence or global optimality.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Proposed System: End-to-End Workflow Pipeline</a:t>
            </a:r>
          </a:p>
        </p:txBody>
      </p:sp>
      <p:sp>
        <p:nvSpPr>
          <p:cNvPr id="3" name="Rounded Rectangle 2"/>
          <p:cNvSpPr/>
          <p:nvPr/>
        </p:nvSpPr>
        <p:spPr>
          <a:xfrm>
            <a:off x="731520" y="1645920"/>
            <a:ext cx="24688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1. Workload Source   [Input]</a:t>
            </a:r>
          </a:p>
          <a:p>
            <a:pPr>
              <a:spcAft>
                <a:spcPts val="600"/>
              </a:spcAft>
              <a:defRPr sz="1100">
                <a:solidFill>
                  <a:srgbClr val="1E293B"/>
                </a:solidFill>
              </a:defRPr>
            </a:pPr>
            <a:r>
              <a:t>•  Google Trace CSV (10K raw cluster tasks).</a:t>
            </a:r>
          </a:p>
          <a:p>
            <a:pPr>
              <a:spcAft>
                <a:spcPts val="600"/>
              </a:spcAft>
              <a:defRPr sz="1100">
                <a:solidFill>
                  <a:srgbClr val="1E293B"/>
                </a:solidFill>
              </a:defRPr>
            </a:pPr>
            <a:r>
              <a:t>•  Synthetic Scenarios: LIGHT, MEDIUM, HEAVY, BURSTY, OVERLOADED.</a:t>
            </a:r>
          </a:p>
          <a:p>
            <a:pPr>
              <a:spcAft>
                <a:spcPts val="600"/>
              </a:spcAft>
              <a:defRPr sz="1100">
                <a:solidFill>
                  <a:srgbClr val="1E293B"/>
                </a:solidFill>
              </a:defRPr>
            </a:pPr>
            <a:r>
              <a:t>•  Reproducible Master Random Seed (Seed 42).</a:t>
            </a:r>
          </a:p>
        </p:txBody>
      </p:sp>
      <p:sp>
        <p:nvSpPr>
          <p:cNvPr id="4" name="Rounded Rectangle 3"/>
          <p:cNvSpPr/>
          <p:nvPr/>
        </p:nvSpPr>
        <p:spPr>
          <a:xfrm>
            <a:off x="3474720" y="1645920"/>
            <a:ext cx="24688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2. Preprocessing &amp; Filter   [Preparation]</a:t>
            </a:r>
          </a:p>
          <a:p>
            <a:pPr>
              <a:spcAft>
                <a:spcPts val="600"/>
              </a:spcAft>
              <a:defRPr sz="1100">
                <a:solidFill>
                  <a:srgbClr val="1E293B"/>
                </a:solidFill>
              </a:defRPr>
            </a:pPr>
            <a:r>
              <a:t>•  8-step cleaning pipeline.</a:t>
            </a:r>
          </a:p>
          <a:p>
            <a:pPr>
              <a:spcAft>
                <a:spcPts val="600"/>
              </a:spcAft>
              <a:defRPr sz="1100">
                <a:solidFill>
                  <a:srgbClr val="1E293B"/>
                </a:solidFill>
              </a:defRPr>
            </a:pPr>
            <a:r>
              <a:t>•  Missing value mean imputation.</a:t>
            </a:r>
          </a:p>
          <a:p>
            <a:pPr>
              <a:spcAft>
                <a:spcPts val="600"/>
              </a:spcAft>
              <a:defRPr sz="1100">
                <a:solidFill>
                  <a:srgbClr val="1E293B"/>
                </a:solidFill>
              </a:defRPr>
            </a:pPr>
            <a:r>
              <a:t>•  IQR outlier clipping &amp; min-max scaling.</a:t>
            </a:r>
          </a:p>
          <a:p>
            <a:pPr>
              <a:spcAft>
                <a:spcPts val="600"/>
              </a:spcAft>
              <a:defRPr sz="1100">
                <a:solidFill>
                  <a:srgbClr val="1E293B"/>
                </a:solidFill>
              </a:defRPr>
            </a:pPr>
            <a:r>
              <a:t>•  Admissibility Filter: Checks if job exceeds cluster capacity. Rejects permanently infeasible jobs.</a:t>
            </a:r>
          </a:p>
        </p:txBody>
      </p:sp>
      <p:sp>
        <p:nvSpPr>
          <p:cNvPr id="5" name="Rounded Rectangle 4"/>
          <p:cNvSpPr/>
          <p:nvPr/>
        </p:nvSpPr>
        <p:spPr>
          <a:xfrm>
            <a:off x="6217920" y="1645920"/>
            <a:ext cx="24688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3. Engine &amp; Scheduler   [Simulation]</a:t>
            </a:r>
          </a:p>
          <a:p>
            <a:pPr>
              <a:spcAft>
                <a:spcPts val="600"/>
              </a:spcAft>
              <a:defRPr sz="1100">
                <a:solidFill>
                  <a:srgbClr val="1E293B"/>
                </a:solidFill>
              </a:defRPr>
            </a:pPr>
            <a:r>
              <a:t>•  SchedulingDecisionEngine orchestrates algorithm execution.</a:t>
            </a:r>
          </a:p>
          <a:p>
            <a:pPr>
              <a:spcAft>
                <a:spcPts val="600"/>
              </a:spcAft>
              <a:defRPr sz="1100">
                <a:solidFill>
                  <a:srgbClr val="1E293B"/>
                </a:solidFill>
              </a:defRPr>
            </a:pPr>
            <a:r>
              <a:t>•  DiscreteEventSimulator processes ARRIVAL &amp; COMPLETION events via min-heap queue.</a:t>
            </a:r>
          </a:p>
          <a:p>
            <a:pPr>
              <a:spcAft>
                <a:spcPts val="600"/>
              </a:spcAft>
              <a:defRPr sz="1100">
                <a:solidFill>
                  <a:srgbClr val="1E293B"/>
                </a:solidFill>
              </a:defRPr>
            </a:pPr>
            <a:r>
              <a:t>•  Multi-resource tracker updates CPU, RAM, and GPU capacity.</a:t>
            </a:r>
          </a:p>
        </p:txBody>
      </p:sp>
      <p:sp>
        <p:nvSpPr>
          <p:cNvPr id="6" name="Rounded Rectangle 5"/>
          <p:cNvSpPr/>
          <p:nvPr/>
        </p:nvSpPr>
        <p:spPr>
          <a:xfrm>
            <a:off x="8961120" y="1645920"/>
            <a:ext cx="246888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4. Evaluation &amp; UI   [Output]</a:t>
            </a:r>
          </a:p>
          <a:p>
            <a:pPr>
              <a:spcAft>
                <a:spcPts val="600"/>
              </a:spcAft>
              <a:defRPr sz="1100">
                <a:solidFill>
                  <a:srgbClr val="1E293B"/>
                </a:solidFill>
              </a:defRPr>
            </a:pPr>
            <a:r>
              <a:t>•  PerformanceEvaluator calculates 6 formal metrics.</a:t>
            </a:r>
          </a:p>
          <a:p>
            <a:pPr>
              <a:spcAft>
                <a:spcPts val="600"/>
              </a:spcAft>
              <a:defRPr sz="1100">
                <a:solidFill>
                  <a:srgbClr val="1E293B"/>
                </a:solidFill>
              </a:defRPr>
            </a:pPr>
            <a:r>
              <a:t>•  SQLite database logs run history.</a:t>
            </a:r>
          </a:p>
          <a:p>
            <a:pPr>
              <a:spcAft>
                <a:spcPts val="600"/>
              </a:spcAft>
              <a:defRPr sz="1100">
                <a:solidFill>
                  <a:srgbClr val="1E293B"/>
                </a:solidFill>
              </a:defRPr>
            </a:pPr>
            <a:r>
              <a:t>•  React frontend renders interactive Gantt timeline &amp; CSV export.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System Architecture: Decoupled Multi-Tier Platform</a:t>
            </a:r>
          </a:p>
        </p:txBody>
      </p:sp>
      <p:sp>
        <p:nvSpPr>
          <p:cNvPr id="3" name="Rounded Rectangle 2"/>
          <p:cNvSpPr/>
          <p:nvPr/>
        </p:nvSpPr>
        <p:spPr>
          <a:xfrm>
            <a:off x="731520" y="164592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Frontend Presentation Tier (React 18 + Vite)   [Client]</a:t>
            </a:r>
          </a:p>
          <a:p>
            <a:pPr>
              <a:spcAft>
                <a:spcPts val="600"/>
              </a:spcAft>
              <a:defRPr sz="1100">
                <a:solidFill>
                  <a:srgbClr val="1E293B"/>
                </a:solidFill>
              </a:defRPr>
            </a:pPr>
            <a:r>
              <a:t>•  Dashboard (/): System KPIs, algorithm comparisons, and cluster status.</a:t>
            </a:r>
          </a:p>
          <a:p>
            <a:pPr>
              <a:spcAft>
                <a:spcPts val="600"/>
              </a:spcAft>
              <a:defRPr sz="1100">
                <a:solidFill>
                  <a:srgbClr val="1E293B"/>
                </a:solidFill>
              </a:defRPr>
            </a:pPr>
            <a:r>
              <a:t>•  Simulation (/simulation): Single run execution, Gantt chart, status bars.</a:t>
            </a:r>
          </a:p>
          <a:p>
            <a:pPr>
              <a:spcAft>
                <a:spcPts val="600"/>
              </a:spcAft>
              <a:defRPr sz="1100">
                <a:solidFill>
                  <a:srgbClr val="1E293B"/>
                </a:solidFill>
              </a:defRPr>
            </a:pPr>
            <a:r>
              <a:t>•  Results (/results): Sequential execution order (#1, #2, #3...), CSV export.</a:t>
            </a:r>
          </a:p>
          <a:p>
            <a:pPr>
              <a:spcAft>
                <a:spcPts val="600"/>
              </a:spcAft>
              <a:defRPr sz="1100">
                <a:solidFill>
                  <a:srgbClr val="1E293B"/>
                </a:solidFill>
              </a:defRPr>
            </a:pPr>
            <a:r>
              <a:t>•  Built with Tailwind CSS, Recharts SVG charting, and Lucide Icons.</a:t>
            </a:r>
          </a:p>
        </p:txBody>
      </p:sp>
      <p:sp>
        <p:nvSpPr>
          <p:cNvPr id="4" name="Rounded Rectangle 3"/>
          <p:cNvSpPr/>
          <p:nvPr/>
        </p:nvSpPr>
        <p:spPr>
          <a:xfrm>
            <a:off x="6217920" y="164592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Backend Application Tier (FastAPI + Python 3.10)   [Server]</a:t>
            </a:r>
          </a:p>
          <a:p>
            <a:pPr>
              <a:spcAft>
                <a:spcPts val="600"/>
              </a:spcAft>
              <a:defRPr sz="1100">
                <a:solidFill>
                  <a:srgbClr val="1E293B"/>
                </a:solidFill>
              </a:defRPr>
            </a:pPr>
            <a:r>
              <a:t>•  API Gateway (app/api/routes.py) with strict Pydantic validation.</a:t>
            </a:r>
          </a:p>
          <a:p>
            <a:pPr>
              <a:spcAft>
                <a:spcPts val="600"/>
              </a:spcAft>
              <a:defRPr sz="1100">
                <a:solidFill>
                  <a:srgbClr val="1E293B"/>
                </a:solidFill>
              </a:defRPr>
            </a:pPr>
            <a:r>
              <a:t>•  Configurable CORS origins (ports 3000, 5173).</a:t>
            </a:r>
          </a:p>
          <a:p>
            <a:pPr>
              <a:spcAft>
                <a:spcPts val="600"/>
              </a:spcAft>
              <a:defRPr sz="1100">
                <a:solidFill>
                  <a:srgbClr val="1E293B"/>
                </a:solidFill>
              </a:defRPr>
            </a:pPr>
            <a:r>
              <a:t>•  SQLite Relational DB via SQLAlchemy ORM (cluster_scheduler.db).</a:t>
            </a:r>
          </a:p>
          <a:p>
            <a:pPr>
              <a:spcAft>
                <a:spcPts val="600"/>
              </a:spcAft>
              <a:defRPr sz="1100">
                <a:solidFill>
                  <a:srgbClr val="1E293B"/>
                </a:solidFill>
              </a:defRPr>
            </a:pPr>
            <a:r>
              <a:t>•  Automated OpenAPI documentation at /docs.</a:t>
            </a:r>
          </a:p>
        </p:txBody>
      </p:sp>
      <p:sp>
        <p:nvSpPr>
          <p:cNvPr id="5" name="Rounded Rectangle 4"/>
          <p:cNvSpPr/>
          <p:nvPr/>
        </p:nvSpPr>
        <p:spPr>
          <a:xfrm>
            <a:off x="731520" y="4023360"/>
            <a:ext cx="1060704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Core Simulation &amp; Algorithmic Layer   [Core Engine]</a:t>
            </a:r>
          </a:p>
          <a:p>
            <a:pPr>
              <a:spcAft>
                <a:spcPts val="600"/>
              </a:spcAft>
              <a:defRPr sz="1100">
                <a:solidFill>
                  <a:srgbClr val="1E293B"/>
                </a:solidFill>
              </a:defRPr>
            </a:pPr>
            <a:r>
              <a:t>•  SchedulingDecisionEngine: Unified orchestrator standardizing inputs and outputs across all 10 algorithms.</a:t>
            </a:r>
          </a:p>
          <a:p>
            <a:pPr>
              <a:spcAft>
                <a:spcPts val="600"/>
              </a:spcAft>
              <a:defRPr sz="1100">
                <a:solidFill>
                  <a:srgbClr val="1E293B"/>
                </a:solidFill>
              </a:defRPr>
            </a:pPr>
            <a:r>
              <a:t>•  DiscreteEventSimulator: Continuous-time engine managing min-heap priority event queue (O(log N)).</a:t>
            </a:r>
          </a:p>
          <a:p>
            <a:pPr>
              <a:spcAft>
                <a:spcPts val="600"/>
              </a:spcAft>
              <a:defRPr sz="1100">
                <a:solidFill>
                  <a:srgbClr val="1E293B"/>
                </a:solidFill>
              </a:defRPr>
            </a:pPr>
            <a:r>
              <a:t>•  ClusterResourceState: Synchronized multi-resource tracker for CPU cores, RAM MB, and GPU units.</a:t>
            </a:r>
          </a:p>
          <a:p>
            <a:pPr>
              <a:spcAft>
                <a:spcPts val="600"/>
              </a:spcAft>
              <a:defRPr sz="1100">
                <a:solidFill>
                  <a:srgbClr val="1E293B"/>
                </a:solidFill>
              </a:defRPr>
            </a:pPr>
            <a:r>
              <a:t>•  PerformanceEvaluator: Calculates Makespan, Waiting Time, Utilization, SLA Rate, Cost, and Composite Score.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Ten Implemented Algorithms Across Three Paradigms</a:t>
            </a:r>
          </a:p>
        </p:txBody>
      </p:sp>
      <p:sp>
        <p:nvSpPr>
          <p:cNvPr id="3" name="Rounded Rectangle 2"/>
          <p:cNvSpPr/>
          <p:nvPr/>
        </p:nvSpPr>
        <p:spPr>
          <a:xfrm>
            <a:off x="7315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Deterministic Heuristics (5)   [Classical]</a:t>
            </a:r>
          </a:p>
          <a:p>
            <a:pPr>
              <a:spcAft>
                <a:spcPts val="600"/>
              </a:spcAft>
              <a:defRPr sz="1100">
                <a:solidFill>
                  <a:srgbClr val="1E293B"/>
                </a:solidFill>
              </a:defRPr>
            </a:pPr>
            <a:r>
              <a:t>•  1. FCFS: Dispatches by arrival timestamp t_arrival.</a:t>
            </a:r>
          </a:p>
          <a:p>
            <a:pPr>
              <a:spcAft>
                <a:spcPts val="600"/>
              </a:spcAft>
              <a:defRPr sz="1100">
                <a:solidFill>
                  <a:srgbClr val="1E293B"/>
                </a:solidFill>
              </a:defRPr>
            </a:pPr>
            <a:r>
              <a:t>•  2. SJF: Prioritizes shortest runtime t_runtime.</a:t>
            </a:r>
          </a:p>
          <a:p>
            <a:pPr>
              <a:spcAft>
                <a:spcPts val="600"/>
              </a:spcAft>
              <a:defRPr sz="1100">
                <a:solidFill>
                  <a:srgbClr val="1E293B"/>
                </a:solidFill>
              </a:defRPr>
            </a:pPr>
            <a:r>
              <a:t>•  3. Priority: Dispatches by static priority rank (1 to 5).</a:t>
            </a:r>
          </a:p>
          <a:p>
            <a:pPr>
              <a:spcAft>
                <a:spcPts val="600"/>
              </a:spcAft>
              <a:defRPr sz="1100">
                <a:solidFill>
                  <a:srgbClr val="1E293B"/>
                </a:solidFill>
              </a:defRPr>
            </a:pPr>
            <a:r>
              <a:t>•  4. EDF: Dispatches by earliest SLA deadline d_j.</a:t>
            </a:r>
          </a:p>
          <a:p>
            <a:pPr>
              <a:spcAft>
                <a:spcPts val="600"/>
              </a:spcAft>
              <a:defRPr sz="1100">
                <a:solidFill>
                  <a:srgbClr val="1E293B"/>
                </a:solidFill>
              </a:defRPr>
            </a:pPr>
            <a:r>
              <a:t>•  5. Greedy Best-Fit: Minimizes residual leftover cluster capacity across CPU, RAM, and GPU.</a:t>
            </a:r>
          </a:p>
        </p:txBody>
      </p:sp>
      <p:sp>
        <p:nvSpPr>
          <p:cNvPr id="4" name="Rounded Rectangle 3"/>
          <p:cNvSpPr/>
          <p:nvPr/>
        </p:nvSpPr>
        <p:spPr>
          <a:xfrm>
            <a:off x="43891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Global Metaheuristics (3)   [Optimization]</a:t>
            </a:r>
          </a:p>
          <a:p>
            <a:pPr>
              <a:spcAft>
                <a:spcPts val="600"/>
              </a:spcAft>
              <a:defRPr sz="1100">
                <a:solidFill>
                  <a:srgbClr val="1E293B"/>
                </a:solidFill>
              </a:defRPr>
            </a:pPr>
            <a:r>
              <a:t>•  6. Genetic Algorithm (GA): Permutation chromosomes, Tournament selection, Order Crossover (OX1), Swap mutation.</a:t>
            </a:r>
          </a:p>
          <a:p>
            <a:pPr>
              <a:spcAft>
                <a:spcPts val="600"/>
              </a:spcAft>
              <a:defRPr sz="1100">
                <a:solidFill>
                  <a:srgbClr val="1E293B"/>
                </a:solidFill>
              </a:defRPr>
            </a:pPr>
            <a:r>
              <a:t>•  7. Particle Swarm Optimization (PSO): Continuous particle velocities mapped to permutations via Smallest Position Value (SPV).</a:t>
            </a:r>
          </a:p>
          <a:p>
            <a:pPr>
              <a:spcAft>
                <a:spcPts val="600"/>
              </a:spcAft>
              <a:defRPr sz="1100">
                <a:solidFill>
                  <a:srgbClr val="1E293B"/>
                </a:solidFill>
              </a:defRPr>
            </a:pPr>
            <a:r>
              <a:t>•  8. Simulated Annealing (SA): 2-opt swaps with Metropolis probabilistic acceptance: P = exp(dF / T).</a:t>
            </a:r>
          </a:p>
        </p:txBody>
      </p:sp>
      <p:sp>
        <p:nvSpPr>
          <p:cNvPr id="5" name="Rounded Rectangle 4"/>
          <p:cNvSpPr/>
          <p:nvPr/>
        </p:nvSpPr>
        <p:spPr>
          <a:xfrm>
            <a:off x="80467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Reinforcement Learning (2)   [Learning Agents]</a:t>
            </a:r>
          </a:p>
          <a:p>
            <a:pPr>
              <a:spcAft>
                <a:spcPts val="600"/>
              </a:spcAft>
              <a:defRPr sz="1100">
                <a:solidFill>
                  <a:srgbClr val="1E293B"/>
                </a:solidFill>
              </a:defRPr>
            </a:pPr>
            <a:r>
              <a:t>•  9. Tabular Q-Learning: State discretization into 4-bin buckets; Bellman TD value updates: Q(s,a) &lt;- Q(s,a) + a[r + g max Q - Q].</a:t>
            </a:r>
          </a:p>
          <a:p>
            <a:pPr>
              <a:spcAft>
                <a:spcPts val="600"/>
              </a:spcAft>
              <a:defRPr sz="1100">
                <a:solidFill>
                  <a:srgbClr val="1E293B"/>
                </a:solidFill>
              </a:defRPr>
            </a:pPr>
            <a:r>
              <a:t>•  10. Deep Q-Network (DQN): PyTorch MLP (6 -&gt; 64 -&gt; 64 -&gt; |A|), Experience Replay Buffer (N=2000), Target Network sync.</a:t>
            </a:r>
          </a:p>
          <a:p>
            <a:pPr>
              <a:spcAft>
                <a:spcPts val="600"/>
              </a:spcAft>
              <a:defRPr sz="1100">
                <a:solidFill>
                  <a:srgbClr val="1E293B"/>
                </a:solidFill>
              </a:defRPr>
            </a:pPr>
            <a:r>
              <a:t>•  Post-Training Eval: Evaluated deterministically (eps = 0.0) across identical workloads.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Formal Evaluation Metrics &amp; Formulas</a:t>
            </a:r>
          </a:p>
        </p:txBody>
      </p:sp>
      <p:sp>
        <p:nvSpPr>
          <p:cNvPr id="3" name="Rounded Rectangle 2"/>
          <p:cNvSpPr/>
          <p:nvPr/>
        </p:nvSpPr>
        <p:spPr>
          <a:xfrm>
            <a:off x="731520" y="164592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1. Makespan &amp; 2. Waiting Time   [Time Metrics]</a:t>
            </a:r>
          </a:p>
          <a:p>
            <a:pPr>
              <a:spcAft>
                <a:spcPts val="600"/>
              </a:spcAft>
              <a:defRPr sz="1100">
                <a:solidFill>
                  <a:srgbClr val="1E293B"/>
                </a:solidFill>
              </a:defRPr>
            </a:pPr>
            <a:r>
              <a:t>•  Makespan (M): Total simulation completion timestamp: M = max(t_finish_j).</a:t>
            </a:r>
          </a:p>
          <a:p>
            <a:pPr>
              <a:spcAft>
                <a:spcPts val="600"/>
              </a:spcAft>
              <a:defRPr sz="1100">
                <a:solidFill>
                  <a:srgbClr val="1E293B"/>
                </a:solidFill>
              </a:defRPr>
            </a:pPr>
            <a:r>
              <a:t>•  Average Waiting Time (W): Mean latency from arrival to execution start:</a:t>
            </a:r>
          </a:p>
          <a:p>
            <a:pPr>
              <a:spcAft>
                <a:spcPts val="600"/>
              </a:spcAft>
              <a:defRPr sz="1100">
                <a:solidFill>
                  <a:srgbClr val="1E293B"/>
                </a:solidFill>
              </a:defRPr>
            </a:pPr>
            <a:r>
              <a:t>•  W_bar = (1 / |J|) * sum(t_start_j - t_arrival_j).</a:t>
            </a:r>
          </a:p>
          <a:p>
            <a:pPr>
              <a:spcAft>
                <a:spcPts val="600"/>
              </a:spcAft>
              <a:defRPr sz="1100">
                <a:solidFill>
                  <a:srgbClr val="1E293B"/>
                </a:solidFill>
              </a:defRPr>
            </a:pPr>
            <a:r>
              <a:t>•  Reflects queue delay experienced by admitted jobs.</a:t>
            </a:r>
          </a:p>
        </p:txBody>
      </p:sp>
      <p:sp>
        <p:nvSpPr>
          <p:cNvPr id="4" name="Rounded Rectangle 3"/>
          <p:cNvSpPr/>
          <p:nvPr/>
        </p:nvSpPr>
        <p:spPr>
          <a:xfrm>
            <a:off x="6217920" y="164592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3. Multi-Resource Utilization (U)   [Hardware Efficiency]</a:t>
            </a:r>
          </a:p>
          <a:p>
            <a:pPr>
              <a:spcAft>
                <a:spcPts val="600"/>
              </a:spcAft>
              <a:defRPr sz="1100">
                <a:solidFill>
                  <a:srgbClr val="1E293B"/>
                </a:solidFill>
              </a:defRPr>
            </a:pPr>
            <a:r>
              <a:t>•  Dimension occupancy: U_dim = (sum demand_j * runtime_j) / (C_dim * M) * 100.</a:t>
            </a:r>
          </a:p>
          <a:p>
            <a:pPr>
              <a:spcAft>
                <a:spcPts val="600"/>
              </a:spcAft>
              <a:defRPr sz="1100">
                <a:solidFill>
                  <a:srgbClr val="1E293B"/>
                </a:solidFill>
              </a:defRPr>
            </a:pPr>
            <a:r>
              <a:t>•  Evaluated for CPU, RAM, and GPU dimensions independently.</a:t>
            </a:r>
          </a:p>
          <a:p>
            <a:pPr>
              <a:spcAft>
                <a:spcPts val="600"/>
              </a:spcAft>
              <a:defRPr sz="1100">
                <a:solidFill>
                  <a:srgbClr val="1E293B"/>
                </a:solidFill>
              </a:defRPr>
            </a:pPr>
            <a:r>
              <a:t>•  Overall Utilization: U_overall = 0.45*U_cpu + 0.45*U_mem + 0.10*U_gpu.</a:t>
            </a:r>
          </a:p>
          <a:p>
            <a:pPr>
              <a:spcAft>
                <a:spcPts val="600"/>
              </a:spcAft>
              <a:defRPr sz="1100">
                <a:solidFill>
                  <a:srgbClr val="1E293B"/>
                </a:solidFill>
              </a:defRPr>
            </a:pPr>
            <a:r>
              <a:t>•  Measures continuous active duty cycle across cluster hardware.</a:t>
            </a:r>
          </a:p>
        </p:txBody>
      </p:sp>
      <p:sp>
        <p:nvSpPr>
          <p:cNvPr id="5" name="Rounded Rectangle 4"/>
          <p:cNvSpPr/>
          <p:nvPr/>
        </p:nvSpPr>
        <p:spPr>
          <a:xfrm>
            <a:off x="731520" y="4023360"/>
            <a:ext cx="512064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4. SLA Violation Rate &amp; 5. Financial Cost   [SLA &amp; Cost]</a:t>
            </a:r>
          </a:p>
          <a:p>
            <a:pPr>
              <a:spcAft>
                <a:spcPts val="600"/>
              </a:spcAft>
              <a:defRPr sz="1100">
                <a:solidFill>
                  <a:srgbClr val="1E293B"/>
                </a:solidFill>
              </a:defRPr>
            </a:pPr>
            <a:r>
              <a:t>•  SLA Violation Rate: R_sla = (sum [t_finish_j &gt; deadline_j] / |J|) * 100.</a:t>
            </a:r>
          </a:p>
          <a:p>
            <a:pPr>
              <a:spcAft>
                <a:spcPts val="600"/>
              </a:spcAft>
              <a:defRPr sz="1100">
                <a:solidFill>
                  <a:srgbClr val="1E293B"/>
                </a:solidFill>
              </a:defRPr>
            </a:pPr>
            <a:r>
              <a:t>•  Operating Cost Model: Hardware usage rates + SLA violation penalties:</a:t>
            </a:r>
          </a:p>
          <a:p>
            <a:pPr>
              <a:spcAft>
                <a:spcPts val="600"/>
              </a:spcAft>
              <a:defRPr sz="1100">
                <a:solidFill>
                  <a:srgbClr val="1E293B"/>
                </a:solidFill>
              </a:defRPr>
            </a:pPr>
            <a:r>
              <a:t>•  Cost = sum(cpu*0.00005) + sum(mem*0.00001) + sum(gpu*0.0002) + (Violations * $25.00).</a:t>
            </a:r>
          </a:p>
          <a:p>
            <a:pPr>
              <a:spcAft>
                <a:spcPts val="600"/>
              </a:spcAft>
              <a:defRPr sz="1100">
                <a:solidFill>
                  <a:srgbClr val="1E293B"/>
                </a:solidFill>
              </a:defRPr>
            </a:pPr>
            <a:r>
              <a:t>•  SLA penalties severely penalize overdue execution.</a:t>
            </a:r>
          </a:p>
        </p:txBody>
      </p:sp>
      <p:sp>
        <p:nvSpPr>
          <p:cNvPr id="6" name="Rounded Rectangle 5"/>
          <p:cNvSpPr/>
          <p:nvPr/>
        </p:nvSpPr>
        <p:spPr>
          <a:xfrm>
            <a:off x="6217920" y="4023360"/>
            <a:ext cx="512064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6. Composite Efficiency Score (0 to 100)   [Composite Score]</a:t>
            </a:r>
          </a:p>
          <a:p>
            <a:pPr>
              <a:spcAft>
                <a:spcPts val="600"/>
              </a:spcAft>
              <a:defRPr sz="1100">
                <a:solidFill>
                  <a:srgbClr val="1E293B"/>
                </a:solidFill>
              </a:defRPr>
            </a:pPr>
            <a:r>
              <a:t>•  Unified academic evaluation index balancing all dimensions:</a:t>
            </a:r>
          </a:p>
          <a:p>
            <a:pPr>
              <a:spcAft>
                <a:spcPts val="600"/>
              </a:spcAft>
              <a:defRPr sz="1100">
                <a:solidFill>
                  <a:srgbClr val="1E293B"/>
                </a:solidFill>
              </a:defRPr>
            </a:pPr>
            <a:r>
              <a:t>•  Score = max(0, min(100, 0.40*U_overall + 0.40*(100 - R_sla) + 0.20*max(0, 100 - W_bar))).</a:t>
            </a:r>
          </a:p>
          <a:p>
            <a:pPr>
              <a:spcAft>
                <a:spcPts val="600"/>
              </a:spcAft>
              <a:defRPr sz="1100">
                <a:solidFill>
                  <a:srgbClr val="1E293B"/>
                </a:solidFill>
              </a:defRPr>
            </a:pPr>
            <a:r>
              <a:t>•  Waiting Saturation: When W_bar &gt;= 100s under heavy load, waiting penalty saturates to 0, leaving utilization and SLA to drive score.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Experimental Setup &amp; Scientific Rigor</a:t>
            </a:r>
          </a:p>
        </p:txBody>
      </p:sp>
      <p:sp>
        <p:nvSpPr>
          <p:cNvPr id="3" name="Rounded Rectangle 2"/>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Standardized Simulation Environment   [Cluster Setup]</a:t>
            </a:r>
          </a:p>
          <a:p>
            <a:pPr>
              <a:spcAft>
                <a:spcPts val="600"/>
              </a:spcAft>
              <a:defRPr sz="1100">
                <a:solidFill>
                  <a:srgbClr val="1E293B"/>
                </a:solidFill>
              </a:defRPr>
            </a:pPr>
            <a:r>
              <a:t>•  Cluster Capacity: 40 CPU cores, 256 GB RAM, 8 GPU accelerators.</a:t>
            </a:r>
          </a:p>
          <a:p>
            <a:pPr>
              <a:spcAft>
                <a:spcPts val="600"/>
              </a:spcAft>
              <a:defRPr sz="1100">
                <a:solidFill>
                  <a:srgbClr val="1E293B"/>
                </a:solidFill>
              </a:defRPr>
            </a:pPr>
            <a:r>
              <a:t>•  Workload Scale: Standardized at exactly N = 25 jobs per scenario.</a:t>
            </a:r>
          </a:p>
          <a:p>
            <a:pPr>
              <a:spcAft>
                <a:spcPts val="600"/>
              </a:spcAft>
              <a:defRPr sz="1100">
                <a:solidFill>
                  <a:srgbClr val="1E293B"/>
                </a:solidFill>
              </a:defRPr>
            </a:pPr>
            <a:r>
              <a:t>•  Reproducibility: Generated with deterministic Master Seed 42 and saved to benchmark_workloads_standard.json.</a:t>
            </a:r>
          </a:p>
          <a:p>
            <a:pPr>
              <a:spcAft>
                <a:spcPts val="600"/>
              </a:spcAft>
              <a:defRPr sz="1100">
                <a:solidFill>
                  <a:srgbClr val="1E293B"/>
                </a:solidFill>
              </a:defRPr>
            </a:pPr>
            <a:r>
              <a:t>•  Fairness Guarantee: Every algorithm receives an identical deep copy of the job list within each scenario; no shared memory mutation.</a:t>
            </a:r>
          </a:p>
        </p:txBody>
      </p:sp>
      <p:sp>
        <p:nvSpPr>
          <p:cNvPr id="4" name="Rounded Rectangle 3"/>
          <p:cNvSpPr/>
          <p:nvPr/>
        </p:nvSpPr>
        <p:spPr>
          <a:xfrm>
            <a:off x="62179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Statistical Reporting Methodology   [Methodology]</a:t>
            </a:r>
          </a:p>
          <a:p>
            <a:pPr>
              <a:spcAft>
                <a:spcPts val="600"/>
              </a:spcAft>
              <a:defRPr sz="1100">
                <a:solidFill>
                  <a:srgbClr val="1E293B"/>
                </a:solidFill>
              </a:defRPr>
            </a:pPr>
            <a:r>
              <a:t>•  Deterministic Algorithms (FCFS, SJF, Priority, EDF, Greedy): Evaluated via single exact execution run.</a:t>
            </a:r>
          </a:p>
          <a:p>
            <a:pPr>
              <a:spcAft>
                <a:spcPts val="600"/>
              </a:spcAft>
              <a:defRPr sz="1100">
                <a:solidFill>
                  <a:srgbClr val="1E293B"/>
                </a:solidFill>
              </a:defRPr>
            </a:pPr>
            <a:r>
              <a:t>•  Stochastic Algorithms (GA, PSO, SA, Q-Learning, DQN): Evaluated across 5 independent random seeds (10, 20, 30, 40, 50).</a:t>
            </a:r>
          </a:p>
          <a:p>
            <a:pPr>
              <a:spcAft>
                <a:spcPts val="600"/>
              </a:spcAft>
              <a:defRPr sz="1100">
                <a:solidFill>
                  <a:srgbClr val="1E293B"/>
                </a:solidFill>
              </a:defRPr>
            </a:pPr>
            <a:r>
              <a:t>•  Reporting Format: Mean +/- Standard Deviation.</a:t>
            </a:r>
          </a:p>
          <a:p>
            <a:pPr>
              <a:spcAft>
                <a:spcPts val="600"/>
              </a:spcAft>
              <a:defRPr sz="1100">
                <a:solidFill>
                  <a:srgbClr val="1E293B"/>
                </a:solidFill>
              </a:defRPr>
            </a:pPr>
            <a:r>
              <a:t>•  Single Source of Truth: All results verified directly against standardized_benchmark_results.json.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Benchmark Results: Medium Contention Scenario (25 Jobs)</a:t>
            </a:r>
          </a:p>
        </p:txBody>
      </p:sp>
      <p:graphicFrame>
        <p:nvGraphicFramePr>
          <p:cNvPr id="3" name="Table 2"/>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1645920"/>
                <a:gridCol w="1645920"/>
                <a:gridCol w="1463040"/>
                <a:gridCol w="1371600"/>
                <a:gridCol w="1463040"/>
                <a:gridCol w="1463040"/>
                <a:gridCol w="1645920"/>
              </a:tblGrid>
              <a:tr h="399010">
                <a:tc>
                  <a:txBody>
                    <a:bodyPr/>
                    <a:lstStyle/>
                    <a:p>
                      <a:pPr>
                        <a:defRPr sz="1100" b="1">
                          <a:solidFill>
                            <a:srgbClr val="FFFFFF"/>
                          </a:solidFill>
                        </a:defRPr>
                      </a:pPr>
                      <a:r>
                        <a:t>Algorithm</a:t>
                      </a:r>
                    </a:p>
                  </a:txBody>
                  <a:tcPr>
                    <a:solidFill>
                      <a:srgbClr val="0F172A"/>
                    </a:solidFill>
                  </a:tcPr>
                </a:tc>
                <a:tc>
                  <a:txBody>
                    <a:bodyPr/>
                    <a:lstStyle/>
                    <a:p>
                      <a:pPr>
                        <a:defRPr sz="1100" b="1">
                          <a:solidFill>
                            <a:srgbClr val="FFFFFF"/>
                          </a:solidFill>
                        </a:defRPr>
                      </a:pPr>
                      <a:r>
                        <a:t>Type</a:t>
                      </a:r>
                    </a:p>
                  </a:txBody>
                  <a:tcPr>
                    <a:solidFill>
                      <a:srgbClr val="0F172A"/>
                    </a:solidFill>
                  </a:tcPr>
                </a:tc>
                <a:tc>
                  <a:txBody>
                    <a:bodyPr/>
                    <a:lstStyle/>
                    <a:p>
                      <a:pPr>
                        <a:defRPr sz="1100" b="1">
                          <a:solidFill>
                            <a:srgbClr val="FFFFFF"/>
                          </a:solidFill>
                        </a:defRPr>
                      </a:pPr>
                      <a:r>
                        <a:t>Makespan (s)</a:t>
                      </a:r>
                    </a:p>
                  </a:txBody>
                  <a:tcPr>
                    <a:solidFill>
                      <a:srgbClr val="0F172A"/>
                    </a:solidFill>
                  </a:tcPr>
                </a:tc>
                <a:tc>
                  <a:txBody>
                    <a:bodyPr/>
                    <a:lstStyle/>
                    <a:p>
                      <a:pPr>
                        <a:defRPr sz="1100" b="1">
                          <a:solidFill>
                            <a:srgbClr val="FFFFFF"/>
                          </a:solidFill>
                        </a:defRPr>
                      </a:pPr>
                      <a:r>
                        <a:t>Avg Wait (s)</a:t>
                      </a:r>
                    </a:p>
                  </a:txBody>
                  <a:tcPr>
                    <a:solidFill>
                      <a:srgbClr val="0F172A"/>
                    </a:solidFill>
                  </a:tcPr>
                </a:tc>
                <a:tc>
                  <a:txBody>
                    <a:bodyPr/>
                    <a:lstStyle/>
                    <a:p>
                      <a:pPr>
                        <a:defRPr sz="1100" b="1">
                          <a:solidFill>
                            <a:srgbClr val="FFFFFF"/>
                          </a:solidFill>
                        </a:defRPr>
                      </a:pPr>
                      <a:r>
                        <a:t>Util (%)</a:t>
                      </a:r>
                    </a:p>
                  </a:txBody>
                  <a:tcPr>
                    <a:solidFill>
                      <a:srgbClr val="0F172A"/>
                    </a:solidFill>
                  </a:tcPr>
                </a:tc>
                <a:tc>
                  <a:txBody>
                    <a:bodyPr/>
                    <a:lstStyle/>
                    <a:p>
                      <a:pPr>
                        <a:defRPr sz="1100" b="1">
                          <a:solidFill>
                            <a:srgbClr val="FFFFFF"/>
                          </a:solidFill>
                        </a:defRPr>
                      </a:pPr>
                      <a:r>
                        <a:t>SLA Viol (%)</a:t>
                      </a:r>
                    </a:p>
                  </a:txBody>
                  <a:tcPr>
                    <a:solidFill>
                      <a:srgbClr val="0F172A"/>
                    </a:solidFill>
                  </a:tcPr>
                </a:tc>
                <a:tc>
                  <a:txBody>
                    <a:bodyPr/>
                    <a:lstStyle/>
                    <a:p>
                      <a:pPr>
                        <a:defRPr sz="1100" b="1">
                          <a:solidFill>
                            <a:srgbClr val="FFFFFF"/>
                          </a:solidFill>
                        </a:defRPr>
                      </a:pPr>
                      <a:r>
                        <a:t>Score (0-100)</a:t>
                      </a:r>
                    </a:p>
                  </a:txBody>
                  <a:tcPr>
                    <a:solidFill>
                      <a:srgbClr val="0F172A"/>
                    </a:solidFill>
                  </a:tcPr>
                </a:tc>
              </a:tr>
              <a:tr h="399010">
                <a:tc>
                  <a:txBody>
                    <a:bodyPr/>
                    <a:lstStyle/>
                    <a:p>
                      <a:pPr>
                        <a:defRPr sz="1000" b="1">
                          <a:solidFill>
                            <a:srgbClr val="1E293B"/>
                          </a:solidFill>
                        </a:defRPr>
                      </a:pPr>
                      <a:r>
                        <a:t>PSO</a:t>
                      </a:r>
                    </a:p>
                  </a:txBody>
                  <a:tcPr>
                    <a:solidFill>
                      <a:srgbClr val="EFF6FF"/>
                    </a:solidFill>
                  </a:tcPr>
                </a:tc>
                <a:tc>
                  <a:txBody>
                    <a:bodyPr/>
                    <a:lstStyle/>
                    <a:p>
                      <a:pPr>
                        <a:defRPr sz="1000" b="1">
                          <a:solidFill>
                            <a:srgbClr val="1E293B"/>
                          </a:solidFill>
                        </a:defRPr>
                      </a:pPr>
                      <a:r>
                        <a:t>Stochastic</a:t>
                      </a:r>
                    </a:p>
                  </a:txBody>
                  <a:tcPr>
                    <a:solidFill>
                      <a:srgbClr val="EFF6FF"/>
                    </a:solidFill>
                  </a:tcPr>
                </a:tc>
                <a:tc>
                  <a:txBody>
                    <a:bodyPr/>
                    <a:lstStyle/>
                    <a:p>
                      <a:pPr>
                        <a:defRPr sz="1000" b="1">
                          <a:solidFill>
                            <a:srgbClr val="1E293B"/>
                          </a:solidFill>
                        </a:defRPr>
                      </a:pPr>
                      <a:r>
                        <a:t>176.45 ± 0.35</a:t>
                      </a:r>
                    </a:p>
                  </a:txBody>
                  <a:tcPr>
                    <a:solidFill>
                      <a:srgbClr val="EFF6FF"/>
                    </a:solidFill>
                  </a:tcPr>
                </a:tc>
                <a:tc>
                  <a:txBody>
                    <a:bodyPr/>
                    <a:lstStyle/>
                    <a:p>
                      <a:pPr>
                        <a:defRPr sz="1000" b="1">
                          <a:solidFill>
                            <a:srgbClr val="1E293B"/>
                          </a:solidFill>
                        </a:defRPr>
                      </a:pPr>
                      <a:r>
                        <a:t>8.95 ± 0.44</a:t>
                      </a:r>
                    </a:p>
                  </a:txBody>
                  <a:tcPr>
                    <a:solidFill>
                      <a:srgbClr val="EFF6FF"/>
                    </a:solidFill>
                  </a:tcPr>
                </a:tc>
                <a:tc>
                  <a:txBody>
                    <a:bodyPr/>
                    <a:lstStyle/>
                    <a:p>
                      <a:pPr>
                        <a:defRPr sz="1000" b="1">
                          <a:solidFill>
                            <a:srgbClr val="1E293B"/>
                          </a:solidFill>
                        </a:defRPr>
                      </a:pPr>
                      <a:r>
                        <a:t>44.21% ± 0.09%</a:t>
                      </a:r>
                    </a:p>
                  </a:txBody>
                  <a:tcPr>
                    <a:solidFill>
                      <a:srgbClr val="EFF6FF"/>
                    </a:solidFill>
                  </a:tcPr>
                </a:tc>
                <a:tc>
                  <a:txBody>
                    <a:bodyPr/>
                    <a:lstStyle/>
                    <a:p>
                      <a:pPr>
                        <a:defRPr sz="1000" b="1">
                          <a:solidFill>
                            <a:srgbClr val="1E293B"/>
                          </a:solidFill>
                        </a:defRPr>
                      </a:pPr>
                      <a:r>
                        <a:t>9.6% ± 2.0%</a:t>
                      </a:r>
                    </a:p>
                  </a:txBody>
                  <a:tcPr>
                    <a:solidFill>
                      <a:srgbClr val="EFF6FF"/>
                    </a:solidFill>
                  </a:tcPr>
                </a:tc>
                <a:tc>
                  <a:txBody>
                    <a:bodyPr/>
                    <a:lstStyle/>
                    <a:p>
                      <a:pPr>
                        <a:defRPr sz="1000" b="1">
                          <a:solidFill>
                            <a:srgbClr val="1E293B"/>
                          </a:solidFill>
                        </a:defRPr>
                      </a:pPr>
                      <a:r>
                        <a:t>72.06 ± 0.71 (1st)</a:t>
                      </a:r>
                    </a:p>
                  </a:txBody>
                  <a:tcPr>
                    <a:solidFill>
                      <a:srgbClr val="EFF6FF"/>
                    </a:solidFill>
                  </a:tcPr>
                </a:tc>
              </a:tr>
              <a:tr h="399010">
                <a:tc>
                  <a:txBody>
                    <a:bodyPr/>
                    <a:lstStyle/>
                    <a:p>
                      <a:pPr>
                        <a:defRPr sz="1000">
                          <a:solidFill>
                            <a:srgbClr val="1E293B"/>
                          </a:solidFill>
                        </a:defRPr>
                      </a:pPr>
                      <a:r>
                        <a:t>GA</a:t>
                      </a:r>
                    </a:p>
                  </a:txBody>
                  <a:tcPr>
                    <a:solidFill>
                      <a:srgbClr val="F8FAFC"/>
                    </a:solidFill>
                  </a:tcPr>
                </a:tc>
                <a:tc>
                  <a:txBody>
                    <a:bodyPr/>
                    <a:lstStyle/>
                    <a:p>
                      <a:pPr>
                        <a:defRPr sz="1000">
                          <a:solidFill>
                            <a:srgbClr val="1E293B"/>
                          </a:solidFill>
                        </a:defRPr>
                      </a:pPr>
                      <a:r>
                        <a:t>Stochastic</a:t>
                      </a:r>
                    </a:p>
                  </a:txBody>
                  <a:tcPr>
                    <a:solidFill>
                      <a:srgbClr val="F8FAFC"/>
                    </a:solidFill>
                  </a:tcPr>
                </a:tc>
                <a:tc>
                  <a:txBody>
                    <a:bodyPr/>
                    <a:lstStyle/>
                    <a:p>
                      <a:pPr>
                        <a:defRPr sz="1000">
                          <a:solidFill>
                            <a:srgbClr val="1E293B"/>
                          </a:solidFill>
                        </a:defRPr>
                      </a:pPr>
                      <a:r>
                        <a:t>175.92 ± 0.35</a:t>
                      </a:r>
                    </a:p>
                  </a:txBody>
                  <a:tcPr>
                    <a:solidFill>
                      <a:srgbClr val="F8FAFC"/>
                    </a:solidFill>
                  </a:tcPr>
                </a:tc>
                <a:tc>
                  <a:txBody>
                    <a:bodyPr/>
                    <a:lstStyle/>
                    <a:p>
                      <a:pPr>
                        <a:defRPr sz="1000">
                          <a:solidFill>
                            <a:srgbClr val="1E293B"/>
                          </a:solidFill>
                        </a:defRPr>
                      </a:pPr>
                      <a:r>
                        <a:t>8.57 ± 0.57</a:t>
                      </a:r>
                    </a:p>
                  </a:txBody>
                  <a:tcPr>
                    <a:solidFill>
                      <a:srgbClr val="F8FAFC"/>
                    </a:solidFill>
                  </a:tcPr>
                </a:tc>
                <a:tc>
                  <a:txBody>
                    <a:bodyPr/>
                    <a:lstStyle/>
                    <a:p>
                      <a:pPr>
                        <a:defRPr sz="1000">
                          <a:solidFill>
                            <a:srgbClr val="1E293B"/>
                          </a:solidFill>
                        </a:defRPr>
                      </a:pPr>
                      <a:r>
                        <a:t>44.35% ± 0.09%</a:t>
                      </a:r>
                    </a:p>
                  </a:txBody>
                  <a:tcPr>
                    <a:solidFill>
                      <a:srgbClr val="F8FAFC"/>
                    </a:solidFill>
                  </a:tcPr>
                </a:tc>
                <a:tc>
                  <a:txBody>
                    <a:bodyPr/>
                    <a:lstStyle/>
                    <a:p>
                      <a:pPr>
                        <a:defRPr sz="1000">
                          <a:solidFill>
                            <a:srgbClr val="1E293B"/>
                          </a:solidFill>
                        </a:defRPr>
                      </a:pPr>
                      <a:r>
                        <a:t>11.2% ± 1.6%</a:t>
                      </a:r>
                    </a:p>
                  </a:txBody>
                  <a:tcPr>
                    <a:solidFill>
                      <a:srgbClr val="F8FAFC"/>
                    </a:solidFill>
                  </a:tcPr>
                </a:tc>
                <a:tc>
                  <a:txBody>
                    <a:bodyPr/>
                    <a:lstStyle/>
                    <a:p>
                      <a:pPr>
                        <a:defRPr sz="1000">
                          <a:solidFill>
                            <a:srgbClr val="1E293B"/>
                          </a:solidFill>
                        </a:defRPr>
                      </a:pPr>
                      <a:r>
                        <a:t>71.54 ± 0.55 (2nd)</a:t>
                      </a:r>
                    </a:p>
                  </a:txBody>
                  <a:tcPr>
                    <a:solidFill>
                      <a:srgbClr val="F8FAFC"/>
                    </a:solidFill>
                  </a:tcPr>
                </a:tc>
              </a:tr>
              <a:tr h="399010">
                <a:tc>
                  <a:txBody>
                    <a:bodyPr/>
                    <a:lstStyle/>
                    <a:p>
                      <a:pPr>
                        <a:defRPr sz="1000">
                          <a:solidFill>
                            <a:srgbClr val="1E293B"/>
                          </a:solidFill>
                        </a:defRPr>
                      </a:pPr>
                      <a:r>
                        <a:t>SJF</a:t>
                      </a:r>
                    </a:p>
                  </a:txBody>
                  <a:tcPr>
                    <a:solidFill>
                      <a:srgbClr val="F8FAFC"/>
                    </a:solidFill>
                  </a:tcPr>
                </a:tc>
                <a:tc>
                  <a:txBody>
                    <a:bodyPr/>
                    <a:lstStyle/>
                    <a:p>
                      <a:pPr>
                        <a:defRPr sz="1000">
                          <a:solidFill>
                            <a:srgbClr val="1E293B"/>
                          </a:solidFill>
                        </a:defRPr>
                      </a:pPr>
                      <a:r>
                        <a:t>Deterministic</a:t>
                      </a:r>
                    </a:p>
                  </a:txBody>
                  <a:tcPr>
                    <a:solidFill>
                      <a:srgbClr val="F8FAFC"/>
                    </a:solidFill>
                  </a:tcPr>
                </a:tc>
                <a:tc>
                  <a:txBody>
                    <a:bodyPr/>
                    <a:lstStyle/>
                    <a:p>
                      <a:pPr>
                        <a:defRPr sz="1000">
                          <a:solidFill>
                            <a:srgbClr val="1E293B"/>
                          </a:solidFill>
                        </a:defRPr>
                      </a:pPr>
                      <a:r>
                        <a:t>178.18</a:t>
                      </a:r>
                    </a:p>
                  </a:txBody>
                  <a:tcPr>
                    <a:solidFill>
                      <a:srgbClr val="F8FAFC"/>
                    </a:solidFill>
                  </a:tcPr>
                </a:tc>
                <a:tc>
                  <a:txBody>
                    <a:bodyPr/>
                    <a:lstStyle/>
                    <a:p>
                      <a:pPr>
                        <a:defRPr sz="1000">
                          <a:solidFill>
                            <a:srgbClr val="1E293B"/>
                          </a:solidFill>
                        </a:defRPr>
                      </a:pPr>
                      <a:r>
                        <a:t>8.07</a:t>
                      </a:r>
                    </a:p>
                  </a:txBody>
                  <a:tcPr>
                    <a:solidFill>
                      <a:srgbClr val="F8FAFC"/>
                    </a:solidFill>
                  </a:tcPr>
                </a:tc>
                <a:tc>
                  <a:txBody>
                    <a:bodyPr/>
                    <a:lstStyle/>
                    <a:p>
                      <a:pPr>
                        <a:defRPr sz="1000">
                          <a:solidFill>
                            <a:srgbClr val="1E293B"/>
                          </a:solidFill>
                        </a:defRPr>
                      </a:pPr>
                      <a:r>
                        <a:t>43.78%</a:t>
                      </a:r>
                    </a:p>
                  </a:txBody>
                  <a:tcPr>
                    <a:solidFill>
                      <a:srgbClr val="F8FAFC"/>
                    </a:solidFill>
                  </a:tcPr>
                </a:tc>
                <a:tc>
                  <a:txBody>
                    <a:bodyPr/>
                    <a:lstStyle/>
                    <a:p>
                      <a:pPr>
                        <a:defRPr sz="1000">
                          <a:solidFill>
                            <a:srgbClr val="1E293B"/>
                          </a:solidFill>
                        </a:defRPr>
                      </a:pPr>
                      <a:r>
                        <a:t>12.0%</a:t>
                      </a:r>
                    </a:p>
                  </a:txBody>
                  <a:tcPr>
                    <a:solidFill>
                      <a:srgbClr val="F8FAFC"/>
                    </a:solidFill>
                  </a:tcPr>
                </a:tc>
                <a:tc>
                  <a:txBody>
                    <a:bodyPr/>
                    <a:lstStyle/>
                    <a:p>
                      <a:pPr>
                        <a:defRPr sz="1000">
                          <a:solidFill>
                            <a:srgbClr val="1E293B"/>
                          </a:solidFill>
                        </a:defRPr>
                      </a:pPr>
                      <a:r>
                        <a:t>71.10 (3rd)</a:t>
                      </a:r>
                    </a:p>
                  </a:txBody>
                  <a:tcPr>
                    <a:solidFill>
                      <a:srgbClr val="F8FAFC"/>
                    </a:solidFill>
                  </a:tcPr>
                </a:tc>
              </a:tr>
              <a:tr h="399010">
                <a:tc>
                  <a:txBody>
                    <a:bodyPr/>
                    <a:lstStyle/>
                    <a:p>
                      <a:pPr>
                        <a:defRPr sz="1000">
                          <a:solidFill>
                            <a:srgbClr val="1E293B"/>
                          </a:solidFill>
                        </a:defRPr>
                      </a:pPr>
                      <a:r>
                        <a:t>SA</a:t>
                      </a:r>
                    </a:p>
                  </a:txBody>
                  <a:tcPr>
                    <a:solidFill>
                      <a:srgbClr val="F8FAFC"/>
                    </a:solidFill>
                  </a:tcPr>
                </a:tc>
                <a:tc>
                  <a:txBody>
                    <a:bodyPr/>
                    <a:lstStyle/>
                    <a:p>
                      <a:pPr>
                        <a:defRPr sz="1000">
                          <a:solidFill>
                            <a:srgbClr val="1E293B"/>
                          </a:solidFill>
                        </a:defRPr>
                      </a:pPr>
                      <a:r>
                        <a:t>Stochastic</a:t>
                      </a:r>
                    </a:p>
                  </a:txBody>
                  <a:tcPr>
                    <a:solidFill>
                      <a:srgbClr val="F8FAFC"/>
                    </a:solidFill>
                  </a:tcPr>
                </a:tc>
                <a:tc>
                  <a:txBody>
                    <a:bodyPr/>
                    <a:lstStyle/>
                    <a:p>
                      <a:pPr>
                        <a:defRPr sz="1000">
                          <a:solidFill>
                            <a:srgbClr val="1E293B"/>
                          </a:solidFill>
                        </a:defRPr>
                      </a:pPr>
                      <a:r>
                        <a:t>179.01 ± 3.78</a:t>
                      </a:r>
                    </a:p>
                  </a:txBody>
                  <a:tcPr>
                    <a:solidFill>
                      <a:srgbClr val="F8FAFC"/>
                    </a:solidFill>
                  </a:tcPr>
                </a:tc>
                <a:tc>
                  <a:txBody>
                    <a:bodyPr/>
                    <a:lstStyle/>
                    <a:p>
                      <a:pPr>
                        <a:defRPr sz="1000">
                          <a:solidFill>
                            <a:srgbClr val="1E293B"/>
                          </a:solidFill>
                        </a:defRPr>
                      </a:pPr>
                      <a:r>
                        <a:t>8.68 ± 0.38</a:t>
                      </a:r>
                    </a:p>
                  </a:txBody>
                  <a:tcPr>
                    <a:solidFill>
                      <a:srgbClr val="F8FAFC"/>
                    </a:solidFill>
                  </a:tcPr>
                </a:tc>
                <a:tc>
                  <a:txBody>
                    <a:bodyPr/>
                    <a:lstStyle/>
                    <a:p>
                      <a:pPr>
                        <a:defRPr sz="1000">
                          <a:solidFill>
                            <a:srgbClr val="1E293B"/>
                          </a:solidFill>
                        </a:defRPr>
                      </a:pPr>
                      <a:r>
                        <a:t>43.60% ± 0.90%</a:t>
                      </a:r>
                    </a:p>
                  </a:txBody>
                  <a:tcPr>
                    <a:solidFill>
                      <a:srgbClr val="F8FAFC"/>
                    </a:solidFill>
                  </a:tcPr>
                </a:tc>
                <a:tc>
                  <a:txBody>
                    <a:bodyPr/>
                    <a:lstStyle/>
                    <a:p>
                      <a:pPr>
                        <a:defRPr sz="1000">
                          <a:solidFill>
                            <a:srgbClr val="1E293B"/>
                          </a:solidFill>
                        </a:defRPr>
                      </a:pPr>
                      <a:r>
                        <a:t>13.6% ± 3.2%</a:t>
                      </a:r>
                    </a:p>
                  </a:txBody>
                  <a:tcPr>
                    <a:solidFill>
                      <a:srgbClr val="F8FAFC"/>
                    </a:solidFill>
                  </a:tcPr>
                </a:tc>
                <a:tc>
                  <a:txBody>
                    <a:bodyPr/>
                    <a:lstStyle/>
                    <a:p>
                      <a:pPr>
                        <a:defRPr sz="1000">
                          <a:solidFill>
                            <a:srgbClr val="1E293B"/>
                          </a:solidFill>
                        </a:defRPr>
                      </a:pPr>
                      <a:r>
                        <a:t>70.26 ± 1.15</a:t>
                      </a:r>
                    </a:p>
                  </a:txBody>
                  <a:tcPr>
                    <a:solidFill>
                      <a:srgbClr val="F8FAFC"/>
                    </a:solidFill>
                  </a:tcPr>
                </a:tc>
              </a:tr>
              <a:tr h="399010">
                <a:tc>
                  <a:txBody>
                    <a:bodyPr/>
                    <a:lstStyle/>
                    <a:p>
                      <a:pPr>
                        <a:defRPr sz="1000">
                          <a:solidFill>
                            <a:srgbClr val="1E293B"/>
                          </a:solidFill>
                        </a:defRPr>
                      </a:pPr>
                      <a:r>
                        <a:t>Priority</a:t>
                      </a:r>
                    </a:p>
                  </a:txBody>
                  <a:tcPr>
                    <a:solidFill>
                      <a:srgbClr val="F8FAFC"/>
                    </a:solidFill>
                  </a:tcPr>
                </a:tc>
                <a:tc>
                  <a:txBody>
                    <a:bodyPr/>
                    <a:lstStyle/>
                    <a:p>
                      <a:pPr>
                        <a:defRPr sz="1000">
                          <a:solidFill>
                            <a:srgbClr val="1E293B"/>
                          </a:solidFill>
                        </a:defRPr>
                      </a:pPr>
                      <a:r>
                        <a:t>Deterministic</a:t>
                      </a:r>
                    </a:p>
                  </a:txBody>
                  <a:tcPr>
                    <a:solidFill>
                      <a:srgbClr val="F8FAFC"/>
                    </a:solidFill>
                  </a:tcPr>
                </a:tc>
                <a:tc>
                  <a:txBody>
                    <a:bodyPr/>
                    <a:lstStyle/>
                    <a:p>
                      <a:pPr>
                        <a:defRPr sz="1000">
                          <a:solidFill>
                            <a:srgbClr val="1E293B"/>
                          </a:solidFill>
                        </a:defRPr>
                      </a:pPr>
                      <a:r>
                        <a:t>189.61</a:t>
                      </a:r>
                    </a:p>
                  </a:txBody>
                  <a:tcPr>
                    <a:solidFill>
                      <a:srgbClr val="F8FAFC"/>
                    </a:solidFill>
                  </a:tcPr>
                </a:tc>
                <a:tc>
                  <a:txBody>
                    <a:bodyPr/>
                    <a:lstStyle/>
                    <a:p>
                      <a:pPr>
                        <a:defRPr sz="1000">
                          <a:solidFill>
                            <a:srgbClr val="1E293B"/>
                          </a:solidFill>
                        </a:defRPr>
                      </a:pPr>
                      <a:r>
                        <a:t>10.24</a:t>
                      </a:r>
                    </a:p>
                  </a:txBody>
                  <a:tcPr>
                    <a:solidFill>
                      <a:srgbClr val="F8FAFC"/>
                    </a:solidFill>
                  </a:tcPr>
                </a:tc>
                <a:tc>
                  <a:txBody>
                    <a:bodyPr/>
                    <a:lstStyle/>
                    <a:p>
                      <a:pPr>
                        <a:defRPr sz="1000">
                          <a:solidFill>
                            <a:srgbClr val="1E293B"/>
                          </a:solidFill>
                        </a:defRPr>
                      </a:pPr>
                      <a:r>
                        <a:t>41.14%</a:t>
                      </a:r>
                    </a:p>
                  </a:txBody>
                  <a:tcPr>
                    <a:solidFill>
                      <a:srgbClr val="F8FAFC"/>
                    </a:solidFill>
                  </a:tcPr>
                </a:tc>
                <a:tc>
                  <a:txBody>
                    <a:bodyPr/>
                    <a:lstStyle/>
                    <a:p>
                      <a:pPr>
                        <a:defRPr sz="1000">
                          <a:solidFill>
                            <a:srgbClr val="1E293B"/>
                          </a:solidFill>
                        </a:defRPr>
                      </a:pPr>
                      <a:r>
                        <a:t>20.0%</a:t>
                      </a:r>
                    </a:p>
                  </a:txBody>
                  <a:tcPr>
                    <a:solidFill>
                      <a:srgbClr val="F8FAFC"/>
                    </a:solidFill>
                  </a:tcPr>
                </a:tc>
                <a:tc>
                  <a:txBody>
                    <a:bodyPr/>
                    <a:lstStyle/>
                    <a:p>
                      <a:pPr>
                        <a:defRPr sz="1000">
                          <a:solidFill>
                            <a:srgbClr val="1E293B"/>
                          </a:solidFill>
                        </a:defRPr>
                      </a:pPr>
                      <a:r>
                        <a:t>66.41</a:t>
                      </a:r>
                    </a:p>
                  </a:txBody>
                  <a:tcPr>
                    <a:solidFill>
                      <a:srgbClr val="F8FAFC"/>
                    </a:solidFill>
                  </a:tcPr>
                </a:tc>
              </a:tr>
              <a:tr h="399010">
                <a:tc>
                  <a:txBody>
                    <a:bodyPr/>
                    <a:lstStyle/>
                    <a:p>
                      <a:pPr>
                        <a:defRPr sz="1000">
                          <a:solidFill>
                            <a:srgbClr val="1E293B"/>
                          </a:solidFill>
                        </a:defRPr>
                      </a:pPr>
                      <a:r>
                        <a:t>EDF</a:t>
                      </a:r>
                    </a:p>
                  </a:txBody>
                  <a:tcPr>
                    <a:solidFill>
                      <a:srgbClr val="F8FAFC"/>
                    </a:solidFill>
                  </a:tcPr>
                </a:tc>
                <a:tc>
                  <a:txBody>
                    <a:bodyPr/>
                    <a:lstStyle/>
                    <a:p>
                      <a:pPr>
                        <a:defRPr sz="1000">
                          <a:solidFill>
                            <a:srgbClr val="1E293B"/>
                          </a:solidFill>
                        </a:defRPr>
                      </a:pPr>
                      <a:r>
                        <a:t>Deterministic</a:t>
                      </a:r>
                    </a:p>
                  </a:txBody>
                  <a:tcPr>
                    <a:solidFill>
                      <a:srgbClr val="F8FAFC"/>
                    </a:solidFill>
                  </a:tcPr>
                </a:tc>
                <a:tc>
                  <a:txBody>
                    <a:bodyPr/>
                    <a:lstStyle/>
                    <a:p>
                      <a:pPr>
                        <a:defRPr sz="1000">
                          <a:solidFill>
                            <a:srgbClr val="1E293B"/>
                          </a:solidFill>
                        </a:defRPr>
                      </a:pPr>
                      <a:r>
                        <a:t>180.77</a:t>
                      </a:r>
                    </a:p>
                  </a:txBody>
                  <a:tcPr>
                    <a:solidFill>
                      <a:srgbClr val="F8FAFC"/>
                    </a:solidFill>
                  </a:tcPr>
                </a:tc>
                <a:tc>
                  <a:txBody>
                    <a:bodyPr/>
                    <a:lstStyle/>
                    <a:p>
                      <a:pPr>
                        <a:defRPr sz="1000">
                          <a:solidFill>
                            <a:srgbClr val="1E293B"/>
                          </a:solidFill>
                        </a:defRPr>
                      </a:pPr>
                      <a:r>
                        <a:t>9.25</a:t>
                      </a:r>
                    </a:p>
                  </a:txBody>
                  <a:tcPr>
                    <a:solidFill>
                      <a:srgbClr val="F8FAFC"/>
                    </a:solidFill>
                  </a:tcPr>
                </a:tc>
                <a:tc>
                  <a:txBody>
                    <a:bodyPr/>
                    <a:lstStyle/>
                    <a:p>
                      <a:pPr>
                        <a:defRPr sz="1000">
                          <a:solidFill>
                            <a:srgbClr val="1E293B"/>
                          </a:solidFill>
                        </a:defRPr>
                      </a:pPr>
                      <a:r>
                        <a:t>43.15%</a:t>
                      </a:r>
                    </a:p>
                  </a:txBody>
                  <a:tcPr>
                    <a:solidFill>
                      <a:srgbClr val="F8FAFC"/>
                    </a:solidFill>
                  </a:tcPr>
                </a:tc>
                <a:tc>
                  <a:txBody>
                    <a:bodyPr/>
                    <a:lstStyle/>
                    <a:p>
                      <a:pPr>
                        <a:defRPr sz="1000">
                          <a:solidFill>
                            <a:srgbClr val="1E293B"/>
                          </a:solidFill>
                        </a:defRPr>
                      </a:pPr>
                      <a:r>
                        <a:t>24.0%</a:t>
                      </a:r>
                    </a:p>
                  </a:txBody>
                  <a:tcPr>
                    <a:solidFill>
                      <a:srgbClr val="F8FAFC"/>
                    </a:solidFill>
                  </a:tcPr>
                </a:tc>
                <a:tc>
                  <a:txBody>
                    <a:bodyPr/>
                    <a:lstStyle/>
                    <a:p>
                      <a:pPr>
                        <a:defRPr sz="1000">
                          <a:solidFill>
                            <a:srgbClr val="1E293B"/>
                          </a:solidFill>
                        </a:defRPr>
                      </a:pPr>
                      <a:r>
                        <a:t>65.81</a:t>
                      </a:r>
                    </a:p>
                  </a:txBody>
                  <a:tcPr>
                    <a:solidFill>
                      <a:srgbClr val="F8FAFC"/>
                    </a:solidFill>
                  </a:tcPr>
                </a:tc>
              </a:tr>
              <a:tr h="399010">
                <a:tc>
                  <a:txBody>
                    <a:bodyPr/>
                    <a:lstStyle/>
                    <a:p>
                      <a:pPr>
                        <a:defRPr sz="1000">
                          <a:solidFill>
                            <a:srgbClr val="1E293B"/>
                          </a:solidFill>
                        </a:defRPr>
                      </a:pPr>
                      <a:r>
                        <a:t>Greedy</a:t>
                      </a:r>
                    </a:p>
                  </a:txBody>
                  <a:tcPr>
                    <a:solidFill>
                      <a:srgbClr val="F8FAFC"/>
                    </a:solidFill>
                  </a:tcPr>
                </a:tc>
                <a:tc>
                  <a:txBody>
                    <a:bodyPr/>
                    <a:lstStyle/>
                    <a:p>
                      <a:pPr>
                        <a:defRPr sz="1000">
                          <a:solidFill>
                            <a:srgbClr val="1E293B"/>
                          </a:solidFill>
                        </a:defRPr>
                      </a:pPr>
                      <a:r>
                        <a:t>Deterministic</a:t>
                      </a:r>
                    </a:p>
                  </a:txBody>
                  <a:tcPr>
                    <a:solidFill>
                      <a:srgbClr val="F8FAFC"/>
                    </a:solidFill>
                  </a:tcPr>
                </a:tc>
                <a:tc>
                  <a:txBody>
                    <a:bodyPr/>
                    <a:lstStyle/>
                    <a:p>
                      <a:pPr>
                        <a:defRPr sz="1000">
                          <a:solidFill>
                            <a:srgbClr val="1E293B"/>
                          </a:solidFill>
                        </a:defRPr>
                      </a:pPr>
                      <a:r>
                        <a:t>176.62</a:t>
                      </a:r>
                    </a:p>
                  </a:txBody>
                  <a:tcPr>
                    <a:solidFill>
                      <a:srgbClr val="F8FAFC"/>
                    </a:solidFill>
                  </a:tcPr>
                </a:tc>
                <a:tc>
                  <a:txBody>
                    <a:bodyPr/>
                    <a:lstStyle/>
                    <a:p>
                      <a:pPr>
                        <a:defRPr sz="1000">
                          <a:solidFill>
                            <a:srgbClr val="1E293B"/>
                          </a:solidFill>
                        </a:defRPr>
                      </a:pPr>
                      <a:r>
                        <a:t>9.87</a:t>
                      </a:r>
                    </a:p>
                  </a:txBody>
                  <a:tcPr>
                    <a:solidFill>
                      <a:srgbClr val="F8FAFC"/>
                    </a:solidFill>
                  </a:tcPr>
                </a:tc>
                <a:tc>
                  <a:txBody>
                    <a:bodyPr/>
                    <a:lstStyle/>
                    <a:p>
                      <a:pPr>
                        <a:defRPr sz="1000">
                          <a:solidFill>
                            <a:srgbClr val="1E293B"/>
                          </a:solidFill>
                        </a:defRPr>
                      </a:pPr>
                      <a:r>
                        <a:t>44.17%</a:t>
                      </a:r>
                    </a:p>
                  </a:txBody>
                  <a:tcPr>
                    <a:solidFill>
                      <a:srgbClr val="F8FAFC"/>
                    </a:solidFill>
                  </a:tcPr>
                </a:tc>
                <a:tc>
                  <a:txBody>
                    <a:bodyPr/>
                    <a:lstStyle/>
                    <a:p>
                      <a:pPr>
                        <a:defRPr sz="1000">
                          <a:solidFill>
                            <a:srgbClr val="1E293B"/>
                          </a:solidFill>
                        </a:defRPr>
                      </a:pPr>
                      <a:r>
                        <a:t>28.0%</a:t>
                      </a:r>
                    </a:p>
                  </a:txBody>
                  <a:tcPr>
                    <a:solidFill>
                      <a:srgbClr val="F8FAFC"/>
                    </a:solidFill>
                  </a:tcPr>
                </a:tc>
                <a:tc>
                  <a:txBody>
                    <a:bodyPr/>
                    <a:lstStyle/>
                    <a:p>
                      <a:pPr>
                        <a:defRPr sz="1000">
                          <a:solidFill>
                            <a:srgbClr val="1E293B"/>
                          </a:solidFill>
                        </a:defRPr>
                      </a:pPr>
                      <a:r>
                        <a:t>64.49</a:t>
                      </a:r>
                    </a:p>
                  </a:txBody>
                  <a:tcPr>
                    <a:solidFill>
                      <a:srgbClr val="F8FAFC"/>
                    </a:solidFill>
                  </a:tcPr>
                </a:tc>
              </a:tr>
              <a:tr h="399010">
                <a:tc>
                  <a:txBody>
                    <a:bodyPr/>
                    <a:lstStyle/>
                    <a:p>
                      <a:pPr>
                        <a:defRPr sz="1000">
                          <a:solidFill>
                            <a:srgbClr val="1E293B"/>
                          </a:solidFill>
                        </a:defRPr>
                      </a:pPr>
                      <a:r>
                        <a:t>FCFS</a:t>
                      </a:r>
                    </a:p>
                  </a:txBody>
                  <a:tcPr>
                    <a:solidFill>
                      <a:srgbClr val="F8FAFC"/>
                    </a:solidFill>
                  </a:tcPr>
                </a:tc>
                <a:tc>
                  <a:txBody>
                    <a:bodyPr/>
                    <a:lstStyle/>
                    <a:p>
                      <a:pPr>
                        <a:defRPr sz="1000">
                          <a:solidFill>
                            <a:srgbClr val="1E293B"/>
                          </a:solidFill>
                        </a:defRPr>
                      </a:pPr>
                      <a:r>
                        <a:t>Deterministic</a:t>
                      </a:r>
                    </a:p>
                  </a:txBody>
                  <a:tcPr>
                    <a:solidFill>
                      <a:srgbClr val="F8FAFC"/>
                    </a:solidFill>
                  </a:tcPr>
                </a:tc>
                <a:tc>
                  <a:txBody>
                    <a:bodyPr/>
                    <a:lstStyle/>
                    <a:p>
                      <a:pPr>
                        <a:defRPr sz="1000">
                          <a:solidFill>
                            <a:srgbClr val="1E293B"/>
                          </a:solidFill>
                        </a:defRPr>
                      </a:pPr>
                      <a:r>
                        <a:t>176.62</a:t>
                      </a:r>
                    </a:p>
                  </a:txBody>
                  <a:tcPr>
                    <a:solidFill>
                      <a:srgbClr val="F8FAFC"/>
                    </a:solidFill>
                  </a:tcPr>
                </a:tc>
                <a:tc>
                  <a:txBody>
                    <a:bodyPr/>
                    <a:lstStyle/>
                    <a:p>
                      <a:pPr>
                        <a:defRPr sz="1000">
                          <a:solidFill>
                            <a:srgbClr val="1E293B"/>
                          </a:solidFill>
                        </a:defRPr>
                      </a:pPr>
                      <a:r>
                        <a:t>10.21</a:t>
                      </a:r>
                    </a:p>
                  </a:txBody>
                  <a:tcPr>
                    <a:solidFill>
                      <a:srgbClr val="F8FAFC"/>
                    </a:solidFill>
                  </a:tcPr>
                </a:tc>
                <a:tc>
                  <a:txBody>
                    <a:bodyPr/>
                    <a:lstStyle/>
                    <a:p>
                      <a:pPr>
                        <a:defRPr sz="1000">
                          <a:solidFill>
                            <a:srgbClr val="1E293B"/>
                          </a:solidFill>
                        </a:defRPr>
                      </a:pPr>
                      <a:r>
                        <a:t>44.17%</a:t>
                      </a:r>
                    </a:p>
                  </a:txBody>
                  <a:tcPr>
                    <a:solidFill>
                      <a:srgbClr val="F8FAFC"/>
                    </a:solidFill>
                  </a:tcPr>
                </a:tc>
                <a:tc>
                  <a:txBody>
                    <a:bodyPr/>
                    <a:lstStyle/>
                    <a:p>
                      <a:pPr>
                        <a:defRPr sz="1000">
                          <a:solidFill>
                            <a:srgbClr val="1E293B"/>
                          </a:solidFill>
                        </a:defRPr>
                      </a:pPr>
                      <a:r>
                        <a:t>28.0%</a:t>
                      </a:r>
                    </a:p>
                  </a:txBody>
                  <a:tcPr>
                    <a:solidFill>
                      <a:srgbClr val="F8FAFC"/>
                    </a:solidFill>
                  </a:tcPr>
                </a:tc>
                <a:tc>
                  <a:txBody>
                    <a:bodyPr/>
                    <a:lstStyle/>
                    <a:p>
                      <a:pPr>
                        <a:defRPr sz="1000">
                          <a:solidFill>
                            <a:srgbClr val="1E293B"/>
                          </a:solidFill>
                        </a:defRPr>
                      </a:pPr>
                      <a:r>
                        <a:t>64.43</a:t>
                      </a:r>
                    </a:p>
                  </a:txBody>
                  <a:tcPr>
                    <a:solidFill>
                      <a:srgbClr val="F8FAFC"/>
                    </a:solidFill>
                  </a:tcPr>
                </a:tc>
              </a:tr>
              <a:tr h="399010">
                <a:tc>
                  <a:txBody>
                    <a:bodyPr/>
                    <a:lstStyle/>
                    <a:p>
                      <a:pPr>
                        <a:defRPr sz="1000">
                          <a:solidFill>
                            <a:srgbClr val="1E293B"/>
                          </a:solidFill>
                        </a:defRPr>
                      </a:pPr>
                      <a:r>
                        <a:t>DQN</a:t>
                      </a:r>
                    </a:p>
                  </a:txBody>
                  <a:tcPr>
                    <a:solidFill>
                      <a:srgbClr val="F8FAFC"/>
                    </a:solidFill>
                  </a:tcPr>
                </a:tc>
                <a:tc>
                  <a:txBody>
                    <a:bodyPr/>
                    <a:lstStyle/>
                    <a:p>
                      <a:pPr>
                        <a:defRPr sz="1000">
                          <a:solidFill>
                            <a:srgbClr val="1E293B"/>
                          </a:solidFill>
                        </a:defRPr>
                      </a:pPr>
                      <a:r>
                        <a:t>Stochastic</a:t>
                      </a:r>
                    </a:p>
                  </a:txBody>
                  <a:tcPr>
                    <a:solidFill>
                      <a:srgbClr val="F8FAFC"/>
                    </a:solidFill>
                  </a:tcPr>
                </a:tc>
                <a:tc>
                  <a:txBody>
                    <a:bodyPr/>
                    <a:lstStyle/>
                    <a:p>
                      <a:pPr>
                        <a:defRPr sz="1000">
                          <a:solidFill>
                            <a:srgbClr val="1E293B"/>
                          </a:solidFill>
                        </a:defRPr>
                      </a:pPr>
                      <a:r>
                        <a:t>207.66 ± 10.49</a:t>
                      </a:r>
                    </a:p>
                  </a:txBody>
                  <a:tcPr>
                    <a:solidFill>
                      <a:srgbClr val="F8FAFC"/>
                    </a:solidFill>
                  </a:tcPr>
                </a:tc>
                <a:tc>
                  <a:txBody>
                    <a:bodyPr/>
                    <a:lstStyle/>
                    <a:p>
                      <a:pPr>
                        <a:defRPr sz="1000">
                          <a:solidFill>
                            <a:srgbClr val="1E293B"/>
                          </a:solidFill>
                        </a:defRPr>
                      </a:pPr>
                      <a:r>
                        <a:t>19.19 ± 2.33</a:t>
                      </a:r>
                    </a:p>
                  </a:txBody>
                  <a:tcPr>
                    <a:solidFill>
                      <a:srgbClr val="F8FAFC"/>
                    </a:solidFill>
                  </a:tcPr>
                </a:tc>
                <a:tc>
                  <a:txBody>
                    <a:bodyPr/>
                    <a:lstStyle/>
                    <a:p>
                      <a:pPr>
                        <a:defRPr sz="1000">
                          <a:solidFill>
                            <a:srgbClr val="1E293B"/>
                          </a:solidFill>
                        </a:defRPr>
                      </a:pPr>
                      <a:r>
                        <a:t>37.66% ± 1.91%</a:t>
                      </a:r>
                    </a:p>
                  </a:txBody>
                  <a:tcPr>
                    <a:solidFill>
                      <a:srgbClr val="F8FAFC"/>
                    </a:solidFill>
                  </a:tcPr>
                </a:tc>
                <a:tc>
                  <a:txBody>
                    <a:bodyPr/>
                    <a:lstStyle/>
                    <a:p>
                      <a:pPr>
                        <a:defRPr sz="1000">
                          <a:solidFill>
                            <a:srgbClr val="1E293B"/>
                          </a:solidFill>
                        </a:defRPr>
                      </a:pPr>
                      <a:r>
                        <a:t>32.0% ± 5.1%</a:t>
                      </a:r>
                    </a:p>
                  </a:txBody>
                  <a:tcPr>
                    <a:solidFill>
                      <a:srgbClr val="F8FAFC"/>
                    </a:solidFill>
                  </a:tcPr>
                </a:tc>
                <a:tc>
                  <a:txBody>
                    <a:bodyPr/>
                    <a:lstStyle/>
                    <a:p>
                      <a:pPr>
                        <a:defRPr sz="1000">
                          <a:solidFill>
                            <a:srgbClr val="1E293B"/>
                          </a:solidFill>
                        </a:defRPr>
                      </a:pPr>
                      <a:r>
                        <a:t>58.43 ± 2.87</a:t>
                      </a:r>
                    </a:p>
                  </a:txBody>
                  <a:tcPr>
                    <a:solidFill>
                      <a:srgbClr val="F8FAFC"/>
                    </a:solidFill>
                  </a:tcPr>
                </a:tc>
              </a:tr>
              <a:tr h="399020">
                <a:tc>
                  <a:txBody>
                    <a:bodyPr/>
                    <a:lstStyle/>
                    <a:p>
                      <a:pPr>
                        <a:defRPr sz="1000">
                          <a:solidFill>
                            <a:srgbClr val="1E293B"/>
                          </a:solidFill>
                        </a:defRPr>
                      </a:pPr>
                      <a:r>
                        <a:t>Q-Learning</a:t>
                      </a:r>
                    </a:p>
                  </a:txBody>
                  <a:tcPr>
                    <a:solidFill>
                      <a:srgbClr val="F8FAFC"/>
                    </a:solidFill>
                  </a:tcPr>
                </a:tc>
                <a:tc>
                  <a:txBody>
                    <a:bodyPr/>
                    <a:lstStyle/>
                    <a:p>
                      <a:pPr>
                        <a:defRPr sz="1000">
                          <a:solidFill>
                            <a:srgbClr val="1E293B"/>
                          </a:solidFill>
                        </a:defRPr>
                      </a:pPr>
                      <a:r>
                        <a:t>Stochastic</a:t>
                      </a:r>
                    </a:p>
                  </a:txBody>
                  <a:tcPr>
                    <a:solidFill>
                      <a:srgbClr val="F8FAFC"/>
                    </a:solidFill>
                  </a:tcPr>
                </a:tc>
                <a:tc>
                  <a:txBody>
                    <a:bodyPr/>
                    <a:lstStyle/>
                    <a:p>
                      <a:pPr>
                        <a:defRPr sz="1000">
                          <a:solidFill>
                            <a:srgbClr val="1E293B"/>
                          </a:solidFill>
                        </a:defRPr>
                      </a:pPr>
                      <a:r>
                        <a:t>202.59 ± 12.06</a:t>
                      </a:r>
                    </a:p>
                  </a:txBody>
                  <a:tcPr>
                    <a:solidFill>
                      <a:srgbClr val="F8FAFC"/>
                    </a:solidFill>
                  </a:tcPr>
                </a:tc>
                <a:tc>
                  <a:txBody>
                    <a:bodyPr/>
                    <a:lstStyle/>
                    <a:p>
                      <a:pPr>
                        <a:defRPr sz="1000">
                          <a:solidFill>
                            <a:srgbClr val="1E293B"/>
                          </a:solidFill>
                        </a:defRPr>
                      </a:pPr>
                      <a:r>
                        <a:t>20.17 ± 2.62</a:t>
                      </a:r>
                    </a:p>
                  </a:txBody>
                  <a:tcPr>
                    <a:solidFill>
                      <a:srgbClr val="F8FAFC"/>
                    </a:solidFill>
                  </a:tcPr>
                </a:tc>
                <a:tc>
                  <a:txBody>
                    <a:bodyPr/>
                    <a:lstStyle/>
                    <a:p>
                      <a:pPr>
                        <a:defRPr sz="1000">
                          <a:solidFill>
                            <a:srgbClr val="1E293B"/>
                          </a:solidFill>
                        </a:defRPr>
                      </a:pPr>
                      <a:r>
                        <a:t>38.64% ± 2.28%</a:t>
                      </a:r>
                    </a:p>
                  </a:txBody>
                  <a:tcPr>
                    <a:solidFill>
                      <a:srgbClr val="F8FAFC"/>
                    </a:solidFill>
                  </a:tcPr>
                </a:tc>
                <a:tc>
                  <a:txBody>
                    <a:bodyPr/>
                    <a:lstStyle/>
                    <a:p>
                      <a:pPr>
                        <a:defRPr sz="1000">
                          <a:solidFill>
                            <a:srgbClr val="1E293B"/>
                          </a:solidFill>
                        </a:defRPr>
                      </a:pPr>
                      <a:r>
                        <a:t>33.6% ± 2.0%</a:t>
                      </a:r>
                    </a:p>
                  </a:txBody>
                  <a:tcPr>
                    <a:solidFill>
                      <a:srgbClr val="F8FAFC"/>
                    </a:solidFill>
                  </a:tcPr>
                </a:tc>
                <a:tc>
                  <a:txBody>
                    <a:bodyPr/>
                    <a:lstStyle/>
                    <a:p>
                      <a:pPr>
                        <a:defRPr sz="1000">
                          <a:solidFill>
                            <a:srgbClr val="1E293B"/>
                          </a:solidFill>
                        </a:defRPr>
                      </a:pPr>
                      <a:r>
                        <a:t>57.98 ± 0.74</a:t>
                      </a:r>
                    </a:p>
                  </a:txBody>
                  <a:tcPr>
                    <a:solidFill>
                      <a:srgbClr val="F8FAF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Heavy Contention &amp; Comparative Trade-offs</a:t>
            </a:r>
          </a:p>
        </p:txBody>
      </p:sp>
      <p:sp>
        <p:nvSpPr>
          <p:cNvPr id="3" name="Rounded Rectangle 2"/>
          <p:cNvSpPr/>
          <p:nvPr/>
        </p:nvSpPr>
        <p:spPr>
          <a:xfrm>
            <a:off x="7315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HEAVY Contention Summary (25 Jobs)   [Heavy Scenario]</a:t>
            </a:r>
          </a:p>
          <a:p>
            <a:pPr>
              <a:spcAft>
                <a:spcPts val="600"/>
              </a:spcAft>
              <a:defRPr sz="1100">
                <a:solidFill>
                  <a:srgbClr val="1E293B"/>
                </a:solidFill>
              </a:defRPr>
            </a:pPr>
            <a:r>
              <a:t>•  PSO ranked #1: Score 44.56 +/- 1.13, Makespan 374.51s, SLA violations 56.8%.</a:t>
            </a:r>
          </a:p>
          <a:p>
            <a:pPr>
              <a:spcAft>
                <a:spcPts val="600"/>
              </a:spcAft>
              <a:defRPr sz="1100">
                <a:solidFill>
                  <a:srgbClr val="1E293B"/>
                </a:solidFill>
              </a:defRPr>
            </a:pPr>
            <a:r>
              <a:t>•  GA ranked #2: Score 44.14 +/- 1.12, Makespan 377.56s, SLA violations 56.8%.</a:t>
            </a:r>
          </a:p>
          <a:p>
            <a:pPr>
              <a:spcAft>
                <a:spcPts val="600"/>
              </a:spcAft>
              <a:defRPr sz="1100">
                <a:solidFill>
                  <a:srgbClr val="1E293B"/>
                </a:solidFill>
              </a:defRPr>
            </a:pPr>
            <a:r>
              <a:t>•  SA ranked #3: Score 39.80 +/- 1.08, Makespan 391.92s.</a:t>
            </a:r>
          </a:p>
          <a:p>
            <a:pPr>
              <a:spcAft>
                <a:spcPts val="600"/>
              </a:spcAft>
              <a:defRPr sz="1100">
                <a:solidFill>
                  <a:srgbClr val="1E293B"/>
                </a:solidFill>
              </a:defRPr>
            </a:pPr>
            <a:r>
              <a:t>•  FCFS ranked #4: Score 37.92 (outperformed SJF under heavy load).</a:t>
            </a:r>
          </a:p>
          <a:p>
            <a:pPr>
              <a:spcAft>
                <a:spcPts val="600"/>
              </a:spcAft>
              <a:defRPr sz="1100">
                <a:solidFill>
                  <a:srgbClr val="1E293B"/>
                </a:solidFill>
              </a:defRPr>
            </a:pPr>
            <a:r>
              <a:t>•  SJF dropped to #6: Score 36.49; prioritizing short jobs repeatedly delayed longer batch tasks past deadlines (72.0% SLA breaches).</a:t>
            </a:r>
          </a:p>
          <a:p>
            <a:pPr>
              <a:spcAft>
                <a:spcPts val="600"/>
              </a:spcAft>
              <a:defRPr sz="1100">
                <a:solidFill>
                  <a:srgbClr val="1E293B"/>
                </a:solidFill>
              </a:defRPr>
            </a:pPr>
            <a:r>
              <a:t>•  RL Agents: Q-Learning (23.67) and DQN (20.93) under limited 25–30 episode training budgets.</a:t>
            </a:r>
          </a:p>
        </p:txBody>
      </p:sp>
      <p:sp>
        <p:nvSpPr>
          <p:cNvPr id="4" name="Rounded Rectangle 3"/>
          <p:cNvSpPr/>
          <p:nvPr/>
        </p:nvSpPr>
        <p:spPr>
          <a:xfrm>
            <a:off x="6217920" y="164592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Core Empirical Takeaways   [Analysis]</a:t>
            </a:r>
          </a:p>
          <a:p>
            <a:pPr>
              <a:spcAft>
                <a:spcPts val="600"/>
              </a:spcAft>
              <a:defRPr sz="1100">
                <a:solidFill>
                  <a:srgbClr val="1E293B"/>
                </a:solidFill>
              </a:defRPr>
            </a:pPr>
            <a:r>
              <a:t>•  1. Low-Load Invariance: In the LIGHT scenario, all heuristics and metaheuristics achieve identical scores (62.49) because resources are never bottlenecked.</a:t>
            </a:r>
          </a:p>
          <a:p>
            <a:pPr>
              <a:spcAft>
                <a:spcPts val="600"/>
              </a:spcAft>
              <a:defRPr sz="1100">
                <a:solidFill>
                  <a:srgbClr val="1E293B"/>
                </a:solidFill>
              </a:defRPr>
            </a:pPr>
            <a:r>
              <a:t>•  2. Metaheuristic Performance: Measured results show PSO and GA achieved the highest efficiency scores; we hypothesize global permutation search mitigates multi-resource fragmentation.</a:t>
            </a:r>
          </a:p>
          <a:p>
            <a:pPr>
              <a:spcAft>
                <a:spcPts val="600"/>
              </a:spcAft>
              <a:defRPr sz="1100">
                <a:solidFill>
                  <a:srgbClr val="1E293B"/>
                </a:solidFill>
              </a:defRPr>
            </a:pPr>
            <a:r>
              <a:t>•  3. SJF Heavy Degradation: SJF achieves strong wait times in moderate load, but suffered 72.0% SLA breaches in heavy load due to long-task postponement.</a:t>
            </a:r>
          </a:p>
          <a:p>
            <a:pPr>
              <a:spcAft>
                <a:spcPts val="600"/>
              </a:spcAft>
              <a:defRPr sz="1100">
                <a:solidFill>
                  <a:srgbClr val="1E293B"/>
                </a:solidFill>
              </a:defRPr>
            </a:pPr>
            <a:r>
              <a:t>•  4. RL Observations: Under a 25–30 episode training budget, RL policies remain suboptimal and do not establish convergence.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System Verification &amp; Production Readiness</a:t>
            </a:r>
          </a:p>
        </p:txBody>
      </p:sp>
      <p:sp>
        <p:nvSpPr>
          <p:cNvPr id="3" name="Rounded Rectangle 2"/>
          <p:cNvSpPr/>
          <p:nvPr/>
        </p:nvSpPr>
        <p:spPr>
          <a:xfrm>
            <a:off x="731520" y="164592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Backend Test Suite (40/40 Passing)   [Backend QA]</a:t>
            </a:r>
          </a:p>
          <a:p>
            <a:pPr>
              <a:spcAft>
                <a:spcPts val="600"/>
              </a:spcAft>
              <a:defRPr sz="1100">
                <a:solidFill>
                  <a:srgbClr val="1E293B"/>
                </a:solidFill>
              </a:defRPr>
            </a:pPr>
            <a:r>
              <a:t>•  Automated regression suite: 40 tests across 9 test files.</a:t>
            </a:r>
          </a:p>
          <a:p>
            <a:pPr>
              <a:spcAft>
                <a:spcPts val="600"/>
              </a:spcAft>
              <a:defRPr sz="1100">
                <a:solidFill>
                  <a:srgbClr val="1E293B"/>
                </a:solidFill>
              </a:defRPr>
            </a:pPr>
            <a:r>
              <a:t>•  Test runtime: 24.04 seconds with zero failures.</a:t>
            </a:r>
          </a:p>
          <a:p>
            <a:pPr>
              <a:spcAft>
                <a:spcPts val="600"/>
              </a:spcAft>
              <a:defRPr sz="1100">
                <a:solidFill>
                  <a:srgbClr val="1E293B"/>
                </a:solidFill>
              </a:defRPr>
            </a:pPr>
            <a:r>
              <a:t>•  Edge-case coverage: empty workloads, solo jobs, simultaneous arrivals (t=0.0), and capacity over-allocation.</a:t>
            </a:r>
          </a:p>
          <a:p>
            <a:pPr>
              <a:spcAft>
                <a:spcPts val="600"/>
              </a:spcAft>
              <a:defRPr sz="1100">
                <a:solidFill>
                  <a:srgbClr val="1E293B"/>
                </a:solidFill>
              </a:defRPr>
            </a:pPr>
            <a:r>
              <a:t>•  Fairness verification: identical deep copies passed to all 10 algorithms.</a:t>
            </a:r>
          </a:p>
        </p:txBody>
      </p:sp>
      <p:sp>
        <p:nvSpPr>
          <p:cNvPr id="4" name="Rounded Rectangle 3"/>
          <p:cNvSpPr/>
          <p:nvPr/>
        </p:nvSpPr>
        <p:spPr>
          <a:xfrm>
            <a:off x="6217920" y="164592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Frontend Production Build   [Frontend QA]</a:t>
            </a:r>
          </a:p>
          <a:p>
            <a:pPr>
              <a:spcAft>
                <a:spcPts val="600"/>
              </a:spcAft>
              <a:defRPr sz="1100">
                <a:solidFill>
                  <a:srgbClr val="1E293B"/>
                </a:solidFill>
              </a:defRPr>
            </a:pPr>
            <a:r>
              <a:t>•  Vite production build: Clean compile in 30.32 seconds.</a:t>
            </a:r>
          </a:p>
          <a:p>
            <a:pPr>
              <a:spcAft>
                <a:spcPts val="600"/>
              </a:spcAft>
              <a:defRPr sz="1100">
                <a:solidFill>
                  <a:srgbClr val="1E293B"/>
                </a:solidFill>
              </a:defRPr>
            </a:pPr>
            <a:r>
              <a:t>•  Bundle artifacts: Optimized CSS (22.48 kB) and JS bundle (830.72 kB).</a:t>
            </a:r>
          </a:p>
          <a:p>
            <a:pPr>
              <a:spcAft>
                <a:spcPts val="600"/>
              </a:spcAft>
              <a:defRPr sz="1100">
                <a:solidFill>
                  <a:srgbClr val="1E293B"/>
                </a:solidFill>
              </a:defRPr>
            </a:pPr>
            <a:r>
              <a:t>•  Zero syntax or packaging errors; fully production ready.</a:t>
            </a:r>
          </a:p>
          <a:p>
            <a:pPr>
              <a:spcAft>
                <a:spcPts val="600"/>
              </a:spcAft>
              <a:defRPr sz="1100">
                <a:solidFill>
                  <a:srgbClr val="1E293B"/>
                </a:solidFill>
              </a:defRPr>
            </a:pPr>
            <a:r>
              <a:t>•  Interactive Gantt chart &amp; execution flow sequence verified.</a:t>
            </a:r>
          </a:p>
        </p:txBody>
      </p:sp>
      <p:sp>
        <p:nvSpPr>
          <p:cNvPr id="5" name="Rounded Rectangle 4"/>
          <p:cNvSpPr/>
          <p:nvPr/>
        </p:nvSpPr>
        <p:spPr>
          <a:xfrm>
            <a:off x="731520" y="4023360"/>
            <a:ext cx="10607040"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Infeasible Job Handling &amp; Zero-Division Safety   [Reliability]</a:t>
            </a:r>
          </a:p>
          <a:p>
            <a:pPr>
              <a:spcAft>
                <a:spcPts val="600"/>
              </a:spcAft>
              <a:defRPr sz="1100">
                <a:solidFill>
                  <a:srgbClr val="1E293B"/>
                </a:solidFill>
              </a:defRPr>
            </a:pPr>
            <a:r>
              <a:t>•  Admissibility Check: Jobs requiring &gt;40 CPU, &gt;256 GB RAM, or &gt;8 GPUs are rejected upfront.</a:t>
            </a:r>
          </a:p>
          <a:p>
            <a:pPr>
              <a:spcAft>
                <a:spcPts val="600"/>
              </a:spcAft>
              <a:defRPr sz="1100">
                <a:solidFill>
                  <a:srgbClr val="1E293B"/>
                </a:solidFill>
              </a:defRPr>
            </a:pPr>
            <a:r>
              <a:t>•  Terminal Status: Explicitly marked status='REJECTED' with detailed diagnostic reason strings.</a:t>
            </a:r>
          </a:p>
          <a:p>
            <a:pPr>
              <a:spcAft>
                <a:spcPts val="600"/>
              </a:spcAft>
              <a:defRPr sz="1100">
                <a:solidFill>
                  <a:srgbClr val="1E293B"/>
                </a:solidFill>
              </a:defRPr>
            </a:pPr>
            <a:r>
              <a:t>•  Zero-Division Protection: Purely infeasible workloads (100% rejected) return 0.0 metrics safely without crashes.</a:t>
            </a:r>
          </a:p>
          <a:p>
            <a:pPr>
              <a:spcAft>
                <a:spcPts val="600"/>
              </a:spcAft>
              <a:defRPr sz="1100">
                <a:solidFill>
                  <a:srgbClr val="1E293B"/>
                </a:solidFill>
              </a:defRPr>
            </a:pPr>
            <a:r>
              <a:t>•  Non-corrupting Semantics: SLA violation rates and compute costs evaluate executed schedules; rejected jobs are reported in a separate audit banner.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2563EB"/>
                </a:solidFill>
              </a:defRPr>
            </a:pPr>
            <a:r>
              <a:t>ACADEMIC PROJECT PRESENTATION</a:t>
            </a:r>
          </a:p>
          <a:p>
            <a:pPr>
              <a:defRPr sz="2200" b="1">
                <a:solidFill>
                  <a:srgbClr val="0F172A"/>
                </a:solidFill>
              </a:defRPr>
            </a:pPr>
            <a:r>
              <a:t>Limitations, Future Enhancements, and Conclusion</a:t>
            </a:r>
          </a:p>
        </p:txBody>
      </p:sp>
      <p:sp>
        <p:nvSpPr>
          <p:cNvPr id="3" name="Rounded Rectangle 2"/>
          <p:cNvSpPr/>
          <p:nvPr/>
        </p:nvSpPr>
        <p:spPr>
          <a:xfrm>
            <a:off x="7315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Current Limitations   [Limitations]</a:t>
            </a:r>
          </a:p>
          <a:p>
            <a:pPr>
              <a:spcAft>
                <a:spcPts val="600"/>
              </a:spcAft>
              <a:defRPr sz="1100">
                <a:solidFill>
                  <a:srgbClr val="1E293B"/>
                </a:solidFill>
              </a:defRPr>
            </a:pPr>
            <a:r>
              <a:t>•  Non-Preemptive Scheduling: Tasks run uninterrupted; no live checkpointing or task migration.</a:t>
            </a:r>
          </a:p>
          <a:p>
            <a:pPr>
              <a:spcAft>
                <a:spcPts val="600"/>
              </a:spcAft>
              <a:defRPr sz="1100">
                <a:solidFill>
                  <a:srgbClr val="1E293B"/>
                </a:solidFill>
              </a:defRPr>
            </a:pPr>
            <a:r>
              <a:t>•  Aggregated Capacity Pool: Cluster is modeled as a unified capacity pool without NUMA or network topology latency.</a:t>
            </a:r>
          </a:p>
          <a:p>
            <a:pPr>
              <a:spcAft>
                <a:spcPts val="600"/>
              </a:spcAft>
              <a:defRPr sz="1100">
                <a:solidFill>
                  <a:srgbClr val="1E293B"/>
                </a:solidFill>
              </a:defRPr>
            </a:pPr>
            <a:r>
              <a:t>•  RL Training Budgets: Constrained to 25–60 episodes to preserve responsive browser REST interactions.</a:t>
            </a:r>
          </a:p>
        </p:txBody>
      </p:sp>
      <p:sp>
        <p:nvSpPr>
          <p:cNvPr id="4" name="Rounded Rectangle 3"/>
          <p:cNvSpPr/>
          <p:nvPr/>
        </p:nvSpPr>
        <p:spPr>
          <a:xfrm>
            <a:off x="43891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Future Roadmap   [Future Work]</a:t>
            </a:r>
          </a:p>
          <a:p>
            <a:pPr>
              <a:spcAft>
                <a:spcPts val="600"/>
              </a:spcAft>
              <a:defRPr sz="1100">
                <a:solidFill>
                  <a:srgbClr val="1E293B"/>
                </a:solidFill>
              </a:defRPr>
            </a:pPr>
            <a:r>
              <a:t>•  Preemptive Simulation: Add suspend/resume events to model dynamic priority preemption.</a:t>
            </a:r>
          </a:p>
          <a:p>
            <a:pPr>
              <a:spcAft>
                <a:spcPts val="600"/>
              </a:spcAft>
              <a:defRPr sz="1100">
                <a:solidFill>
                  <a:srgbClr val="1E293B"/>
                </a:solidFill>
              </a:defRPr>
            </a:pPr>
            <a:r>
              <a:t>•  GNN State Representation: Replace 6D summary state vector with bipartite Graph Neural Networks modeling jobs and nodes.</a:t>
            </a:r>
          </a:p>
          <a:p>
            <a:pPr>
              <a:spcAft>
                <a:spcPts val="600"/>
              </a:spcAft>
              <a:defRPr sz="1100">
                <a:solidFill>
                  <a:srgbClr val="1E293B"/>
                </a:solidFill>
              </a:defRPr>
            </a:pPr>
            <a:r>
              <a:t>•  Advanced RL: Implement Proximal Policy Optimization (PPO) with action masking.</a:t>
            </a:r>
          </a:p>
          <a:p>
            <a:pPr>
              <a:spcAft>
                <a:spcPts val="600"/>
              </a:spcAft>
              <a:defRPr sz="1100">
                <a:solidFill>
                  <a:srgbClr val="1E293B"/>
                </a:solidFill>
              </a:defRPr>
            </a:pPr>
            <a:r>
              <a:t>•  Distributed Execution: Celery/Redis background worker queue for long-running benchmarks.</a:t>
            </a:r>
          </a:p>
        </p:txBody>
      </p:sp>
      <p:sp>
        <p:nvSpPr>
          <p:cNvPr id="5" name="Rounded Rectangle 4"/>
          <p:cNvSpPr/>
          <p:nvPr/>
        </p:nvSpPr>
        <p:spPr>
          <a:xfrm>
            <a:off x="8046720" y="1645920"/>
            <a:ext cx="32918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400" b="1">
                <a:solidFill>
                  <a:srgbClr val="2563EB"/>
                </a:solidFill>
              </a:defRPr>
            </a:pPr>
            <a:r>
              <a:t>Conclusion   [Summary]</a:t>
            </a:r>
          </a:p>
          <a:p>
            <a:pPr>
              <a:spcAft>
                <a:spcPts val="600"/>
              </a:spcAft>
              <a:defRPr sz="1100">
                <a:solidFill>
                  <a:srgbClr val="1E293B"/>
                </a:solidFill>
              </a:defRPr>
            </a:pPr>
            <a:r>
              <a:t>•  Successfully engineered a multi-resource scheduling optimization &amp; simulation platform.</a:t>
            </a:r>
          </a:p>
          <a:p>
            <a:pPr>
              <a:spcAft>
                <a:spcPts val="600"/>
              </a:spcAft>
              <a:defRPr sz="1100">
                <a:solidFill>
                  <a:srgbClr val="1E293B"/>
                </a:solidFill>
              </a:defRPr>
            </a:pPr>
            <a:r>
              <a:t>•  Empirically validated 10 algorithms under identical, reproducible conditions.</a:t>
            </a:r>
          </a:p>
          <a:p>
            <a:pPr>
              <a:spcAft>
                <a:spcPts val="600"/>
              </a:spcAft>
              <a:defRPr sz="1100">
                <a:solidFill>
                  <a:srgbClr val="1E293B"/>
                </a:solidFill>
              </a:defRPr>
            </a:pPr>
            <a:r>
              <a:t>•  Demonstrated that PSO and GA achieve superior efficiency under heavy multi-resource contention.</a:t>
            </a:r>
          </a:p>
          <a:p>
            <a:pPr>
              <a:spcAft>
                <a:spcPts val="600"/>
              </a:spcAft>
              <a:defRPr sz="1100">
                <a:solidFill>
                  <a:srgbClr val="1E293B"/>
                </a:solidFill>
              </a:defRPr>
            </a:pPr>
            <a:r>
              <a:t>•  Provided transparent, realistic findings on RL convergence in combinatorial scheduling.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